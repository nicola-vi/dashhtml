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702" r:id="rId4"/>
  </p:sldMasterIdLst>
  <p:notesMasterIdLst>
    <p:notesMasterId r:id="rId22"/>
  </p:notesMasterIdLst>
  <p:handoutMasterIdLst>
    <p:handoutMasterId r:id="rId23"/>
  </p:handoutMasterIdLst>
  <p:sldIdLst>
    <p:sldId id="376" r:id="rId5"/>
    <p:sldId id="400" r:id="rId6"/>
    <p:sldId id="401" r:id="rId7"/>
    <p:sldId id="402" r:id="rId8"/>
    <p:sldId id="403" r:id="rId9"/>
    <p:sldId id="404" r:id="rId10"/>
    <p:sldId id="405" r:id="rId11"/>
    <p:sldId id="406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414" r:id="rId20"/>
    <p:sldId id="415" r:id="rId21"/>
  </p:sldIdLst>
  <p:sldSz cx="12192000" cy="6858000"/>
  <p:notesSz cx="6858000" cy="9144000"/>
  <p:embeddedFontLs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Montserrat ExtraBold" panose="00000900000000000000" pitchFamily="2" charset="0"/>
      <p:bold r:id="rId28"/>
      <p:boldItalic r:id="rId29"/>
    </p:embeddedFont>
    <p:embeddedFont>
      <p:font typeface="Montserrat SemiBold" panose="00000700000000000000" pitchFamily="2" charset="0"/>
      <p:bold r:id="rId30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DE25517F-E070-314B-A048-6AEDC5A74E29}">
          <p14:sldIdLst>
            <p14:sldId id="376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36"/>
    <a:srgbClr val="FFFFFF"/>
    <a:srgbClr val="C01637"/>
    <a:srgbClr val="E81B44"/>
    <a:srgbClr val="333333"/>
    <a:srgbClr val="49428A"/>
    <a:srgbClr val="8580D2"/>
    <a:srgbClr val="050505"/>
    <a:srgbClr val="5B5C9F"/>
    <a:srgbClr val="858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85" autoAdjust="0"/>
    <p:restoredTop sz="95033" autoAdjust="0"/>
  </p:normalViewPr>
  <p:slideViewPr>
    <p:cSldViewPr snapToGrid="0" snapToObjects="1" showGuides="1">
      <p:cViewPr varScale="1">
        <p:scale>
          <a:sx n="105" d="100"/>
          <a:sy n="105" d="100"/>
        </p:scale>
        <p:origin x="71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97"/>
    </p:cViewPr>
  </p:sorterViewPr>
  <p:notesViewPr>
    <p:cSldViewPr snapToGrid="0" snapToObjects="1">
      <p:cViewPr varScale="1">
        <p:scale>
          <a:sx n="65" d="100"/>
          <a:sy n="65" d="100"/>
        </p:scale>
        <p:origin x="2299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 Vigano'" userId="da5470c3-a046-45bb-901d-f4e7bb3a3f27" providerId="ADAL" clId="{847A0822-9357-43E2-9EBC-F45602562794}"/>
    <pc:docChg chg="custSel modSld">
      <pc:chgData name="Nicola Vigano'" userId="da5470c3-a046-45bb-901d-f4e7bb3a3f27" providerId="ADAL" clId="{847A0822-9357-43E2-9EBC-F45602562794}" dt="2026-05-19T15:16:21.105" v="36" actId="478"/>
      <pc:docMkLst>
        <pc:docMk/>
      </pc:docMkLst>
      <pc:sldChg chg="delSp mod">
        <pc:chgData name="Nicola Vigano'" userId="da5470c3-a046-45bb-901d-f4e7bb3a3f27" providerId="ADAL" clId="{847A0822-9357-43E2-9EBC-F45602562794}" dt="2026-05-19T15:16:21.105" v="36" actId="478"/>
        <pc:sldMkLst>
          <pc:docMk/>
          <pc:sldMk cId="2391848142" sldId="376"/>
        </pc:sldMkLst>
        <pc:spChg chg="del">
          <ac:chgData name="Nicola Vigano'" userId="da5470c3-a046-45bb-901d-f4e7bb3a3f27" providerId="ADAL" clId="{847A0822-9357-43E2-9EBC-F45602562794}" dt="2026-05-19T15:16:21.105" v="36" actId="478"/>
          <ac:spMkLst>
            <pc:docMk/>
            <pc:sldMk cId="2391848142" sldId="376"/>
            <ac:spMk id="8" creationId="{AFF188CC-14CA-6428-035C-89EEE00FA834}"/>
          </ac:spMkLst>
        </pc:spChg>
      </pc:sldChg>
      <pc:sldChg chg="modSp mod">
        <pc:chgData name="Nicola Vigano'" userId="da5470c3-a046-45bb-901d-f4e7bb3a3f27" providerId="ADAL" clId="{847A0822-9357-43E2-9EBC-F45602562794}" dt="2026-05-18T14:19:16.272" v="35" actId="20577"/>
        <pc:sldMkLst>
          <pc:docMk/>
          <pc:sldMk cId="2998443195" sldId="404"/>
        </pc:sldMkLst>
        <pc:spChg chg="mod">
          <ac:chgData name="Nicola Vigano'" userId="da5470c3-a046-45bb-901d-f4e7bb3a3f27" providerId="ADAL" clId="{847A0822-9357-43E2-9EBC-F45602562794}" dt="2026-05-18T14:19:16.272" v="35" actId="20577"/>
          <ac:spMkLst>
            <pc:docMk/>
            <pc:sldMk cId="2998443195" sldId="404"/>
            <ac:spMk id="5" creationId="{2B105FE2-A663-B105-56CC-E1D042C5CD7D}"/>
          </ac:spMkLst>
        </pc:spChg>
      </pc:sldChg>
    </pc:docChg>
  </pc:docChgLst>
  <pc:docChgLst>
    <pc:chgData name="Nicola Vigano'" userId="da5470c3-a046-45bb-901d-f4e7bb3a3f27" providerId="ADAL" clId="{59A86DD1-0296-4C3E-A5F5-B7305E303CD0}"/>
    <pc:docChg chg="custSel modSld">
      <pc:chgData name="Nicola Vigano'" userId="da5470c3-a046-45bb-901d-f4e7bb3a3f27" providerId="ADAL" clId="{59A86DD1-0296-4C3E-A5F5-B7305E303CD0}" dt="2026-05-15T08:40:36.812" v="194" actId="20577"/>
      <pc:docMkLst>
        <pc:docMk/>
      </pc:docMkLst>
      <pc:sldChg chg="modSp mod">
        <pc:chgData name="Nicola Vigano'" userId="da5470c3-a046-45bb-901d-f4e7bb3a3f27" providerId="ADAL" clId="{59A86DD1-0296-4C3E-A5F5-B7305E303CD0}" dt="2026-05-15T08:40:14.189" v="39" actId="27636"/>
        <pc:sldMkLst>
          <pc:docMk/>
          <pc:sldMk cId="2391848142" sldId="376"/>
        </pc:sldMkLst>
        <pc:spChg chg="mod">
          <ac:chgData name="Nicola Vigano'" userId="da5470c3-a046-45bb-901d-f4e7bb3a3f27" providerId="ADAL" clId="{59A86DD1-0296-4C3E-A5F5-B7305E303CD0}" dt="2026-05-15T08:40:14.189" v="39" actId="27636"/>
          <ac:spMkLst>
            <pc:docMk/>
            <pc:sldMk cId="2391848142" sldId="376"/>
            <ac:spMk id="7" creationId="{00000000-0000-0000-0000-000000000000}"/>
          </ac:spMkLst>
        </pc:spChg>
      </pc:sldChg>
      <pc:sldChg chg="modSp mod">
        <pc:chgData name="Nicola Vigano'" userId="da5470c3-a046-45bb-901d-f4e7bb3a3f27" providerId="ADAL" clId="{59A86DD1-0296-4C3E-A5F5-B7305E303CD0}" dt="2026-05-15T08:40:14.223" v="40" actId="27636"/>
        <pc:sldMkLst>
          <pc:docMk/>
          <pc:sldMk cId="2443454665" sldId="401"/>
        </pc:sldMkLst>
        <pc:spChg chg="mod">
          <ac:chgData name="Nicola Vigano'" userId="da5470c3-a046-45bb-901d-f4e7bb3a3f27" providerId="ADAL" clId="{59A86DD1-0296-4C3E-A5F5-B7305E303CD0}" dt="2026-05-15T08:40:14.223" v="40" actId="27636"/>
          <ac:spMkLst>
            <pc:docMk/>
            <pc:sldMk cId="2443454665" sldId="401"/>
            <ac:spMk id="6" creationId="{35FB0AFB-15E0-1C28-2E9F-F45BC8B61112}"/>
          </ac:spMkLst>
        </pc:spChg>
      </pc:sldChg>
      <pc:sldChg chg="modSp mod">
        <pc:chgData name="Nicola Vigano'" userId="da5470c3-a046-45bb-901d-f4e7bb3a3f27" providerId="ADAL" clId="{59A86DD1-0296-4C3E-A5F5-B7305E303CD0}" dt="2026-05-15T08:40:36.812" v="194" actId="20577"/>
        <pc:sldMkLst>
          <pc:docMk/>
          <pc:sldMk cId="2998443195" sldId="404"/>
        </pc:sldMkLst>
        <pc:spChg chg="mod">
          <ac:chgData name="Nicola Vigano'" userId="da5470c3-a046-45bb-901d-f4e7bb3a3f27" providerId="ADAL" clId="{59A86DD1-0296-4C3E-A5F5-B7305E303CD0}" dt="2026-05-15T08:40:36.812" v="194" actId="20577"/>
          <ac:spMkLst>
            <pc:docMk/>
            <pc:sldMk cId="2998443195" sldId="404"/>
            <ac:spMk id="5" creationId="{2B105FE2-A663-B105-56CC-E1D042C5CD7D}"/>
          </ac:spMkLst>
        </pc:spChg>
        <pc:spChg chg="mod">
          <ac:chgData name="Nicola Vigano'" userId="da5470c3-a046-45bb-901d-f4e7bb3a3f27" providerId="ADAL" clId="{59A86DD1-0296-4C3E-A5F5-B7305E303CD0}" dt="2026-05-15T08:40:14.014" v="31" actId="27636"/>
          <ac:spMkLst>
            <pc:docMk/>
            <pc:sldMk cId="2998443195" sldId="404"/>
            <ac:spMk id="6" creationId="{0047699C-5080-BDF7-E860-D104431FF91A}"/>
          </ac:spMkLst>
        </pc:spChg>
      </pc:sldChg>
      <pc:sldChg chg="modSp mod">
        <pc:chgData name="Nicola Vigano'" userId="da5470c3-a046-45bb-901d-f4e7bb3a3f27" providerId="ADAL" clId="{59A86DD1-0296-4C3E-A5F5-B7305E303CD0}" dt="2026-05-15T08:40:14.040" v="32" actId="27636"/>
        <pc:sldMkLst>
          <pc:docMk/>
          <pc:sldMk cId="2627433290" sldId="405"/>
        </pc:sldMkLst>
        <pc:spChg chg="mod">
          <ac:chgData name="Nicola Vigano'" userId="da5470c3-a046-45bb-901d-f4e7bb3a3f27" providerId="ADAL" clId="{59A86DD1-0296-4C3E-A5F5-B7305E303CD0}" dt="2026-05-15T08:40:14.040" v="32" actId="27636"/>
          <ac:spMkLst>
            <pc:docMk/>
            <pc:sldMk cId="2627433290" sldId="405"/>
            <ac:spMk id="6" creationId="{0ACEA52C-C237-0A6C-B6D3-6ED2EBB92250}"/>
          </ac:spMkLst>
        </pc:spChg>
      </pc:sldChg>
      <pc:sldChg chg="modSp mod">
        <pc:chgData name="Nicola Vigano'" userId="da5470c3-a046-45bb-901d-f4e7bb3a3f27" providerId="ADAL" clId="{59A86DD1-0296-4C3E-A5F5-B7305E303CD0}" dt="2026-05-15T08:40:14.052" v="33" actId="27636"/>
        <pc:sldMkLst>
          <pc:docMk/>
          <pc:sldMk cId="1541748213" sldId="406"/>
        </pc:sldMkLst>
        <pc:spChg chg="mod">
          <ac:chgData name="Nicola Vigano'" userId="da5470c3-a046-45bb-901d-f4e7bb3a3f27" providerId="ADAL" clId="{59A86DD1-0296-4C3E-A5F5-B7305E303CD0}" dt="2026-05-15T08:40:14.052" v="33" actId="27636"/>
          <ac:spMkLst>
            <pc:docMk/>
            <pc:sldMk cId="1541748213" sldId="406"/>
            <ac:spMk id="6" creationId="{30E4CEF3-6318-D87F-7ED7-83B06423B506}"/>
          </ac:spMkLst>
        </pc:spChg>
      </pc:sldChg>
      <pc:sldChg chg="modSp mod">
        <pc:chgData name="Nicola Vigano'" userId="da5470c3-a046-45bb-901d-f4e7bb3a3f27" providerId="ADAL" clId="{59A86DD1-0296-4C3E-A5F5-B7305E303CD0}" dt="2026-05-15T08:40:14.071" v="34" actId="27636"/>
        <pc:sldMkLst>
          <pc:docMk/>
          <pc:sldMk cId="2443454665" sldId="408"/>
        </pc:sldMkLst>
        <pc:spChg chg="mod">
          <ac:chgData name="Nicola Vigano'" userId="da5470c3-a046-45bb-901d-f4e7bb3a3f27" providerId="ADAL" clId="{59A86DD1-0296-4C3E-A5F5-B7305E303CD0}" dt="2026-05-15T08:40:14.071" v="34" actId="27636"/>
          <ac:spMkLst>
            <pc:docMk/>
            <pc:sldMk cId="2443454665" sldId="408"/>
            <ac:spMk id="6" creationId="{35FB0AFB-15E0-1C28-2E9F-F45BC8B61112}"/>
          </ac:spMkLst>
        </pc:spChg>
      </pc:sldChg>
      <pc:sldChg chg="modSp mod">
        <pc:chgData name="Nicola Vigano'" userId="da5470c3-a046-45bb-901d-f4e7bb3a3f27" providerId="ADAL" clId="{59A86DD1-0296-4C3E-A5F5-B7305E303CD0}" dt="2026-05-15T08:40:14.096" v="35" actId="27636"/>
        <pc:sldMkLst>
          <pc:docMk/>
          <pc:sldMk cId="2998443195" sldId="412"/>
        </pc:sldMkLst>
        <pc:spChg chg="mod">
          <ac:chgData name="Nicola Vigano'" userId="da5470c3-a046-45bb-901d-f4e7bb3a3f27" providerId="ADAL" clId="{59A86DD1-0296-4C3E-A5F5-B7305E303CD0}" dt="2026-05-15T08:40:14.096" v="35" actId="27636"/>
          <ac:spMkLst>
            <pc:docMk/>
            <pc:sldMk cId="2998443195" sldId="412"/>
            <ac:spMk id="6" creationId="{0047699C-5080-BDF7-E860-D104431FF91A}"/>
          </ac:spMkLst>
        </pc:spChg>
      </pc:sldChg>
      <pc:sldChg chg="modSp mod">
        <pc:chgData name="Nicola Vigano'" userId="da5470c3-a046-45bb-901d-f4e7bb3a3f27" providerId="ADAL" clId="{59A86DD1-0296-4C3E-A5F5-B7305E303CD0}" dt="2026-05-15T08:40:14.123" v="36" actId="27636"/>
        <pc:sldMkLst>
          <pc:docMk/>
          <pc:sldMk cId="2627433290" sldId="413"/>
        </pc:sldMkLst>
        <pc:spChg chg="mod">
          <ac:chgData name="Nicola Vigano'" userId="da5470c3-a046-45bb-901d-f4e7bb3a3f27" providerId="ADAL" clId="{59A86DD1-0296-4C3E-A5F5-B7305E303CD0}" dt="2026-05-15T08:40:14.123" v="36" actId="27636"/>
          <ac:spMkLst>
            <pc:docMk/>
            <pc:sldMk cId="2627433290" sldId="413"/>
            <ac:spMk id="6" creationId="{0ACEA52C-C237-0A6C-B6D3-6ED2EBB92250}"/>
          </ac:spMkLst>
        </pc:spChg>
      </pc:sldChg>
      <pc:sldChg chg="modSp mod">
        <pc:chgData name="Nicola Vigano'" userId="da5470c3-a046-45bb-901d-f4e7bb3a3f27" providerId="ADAL" clId="{59A86DD1-0296-4C3E-A5F5-B7305E303CD0}" dt="2026-05-15T08:40:14.158" v="38" actId="27636"/>
        <pc:sldMkLst>
          <pc:docMk/>
          <pc:sldMk cId="2443454665" sldId="414"/>
        </pc:sldMkLst>
        <pc:spChg chg="mod">
          <ac:chgData name="Nicola Vigano'" userId="da5470c3-a046-45bb-901d-f4e7bb3a3f27" providerId="ADAL" clId="{59A86DD1-0296-4C3E-A5F5-B7305E303CD0}" dt="2026-05-15T08:40:14.158" v="38" actId="27636"/>
          <ac:spMkLst>
            <pc:docMk/>
            <pc:sldMk cId="2443454665" sldId="414"/>
            <ac:spMk id="5" creationId="{B1699654-2275-78AC-BE52-E690AB888D6C}"/>
          </ac:spMkLst>
        </pc:spChg>
        <pc:spChg chg="mod">
          <ac:chgData name="Nicola Vigano'" userId="da5470c3-a046-45bb-901d-f4e7bb3a3f27" providerId="ADAL" clId="{59A86DD1-0296-4C3E-A5F5-B7305E303CD0}" dt="2026-05-15T08:40:14.143" v="37" actId="27636"/>
          <ac:spMkLst>
            <pc:docMk/>
            <pc:sldMk cId="2443454665" sldId="414"/>
            <ac:spMk id="6" creationId="{35FB0AFB-15E0-1C28-2E9F-F45BC8B6111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117FCE6-CCA2-B6C7-241E-7E4BF83E4D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4E07377-82BA-DE51-59F4-02534DC71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4E568-5B2B-4504-A039-E19DAB305BC9}" type="datetimeFigureOut">
              <a:rPr lang="it-IT" smtClean="0"/>
              <a:t>19/05/2026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D5D51E0-602D-AB6A-C57A-A8FAB97312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F9D124E-9E36-B8BC-4A96-68C4C8375B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99C2D-4106-46D5-BC64-8416AEE94A15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329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" panose="02000505000000020004" pitchFamily="2" charset="77"/>
              </a:defRPr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" panose="02000505000000020004" pitchFamily="2" charset="77"/>
              </a:defRPr>
            </a:lvl1pPr>
          </a:lstStyle>
          <a:p>
            <a:fld id="{8CA246E1-76A9-254D-A7A2-7529DB78EFE9}" type="datetimeFigureOut">
              <a:rPr lang="it-IT" smtClean="0"/>
              <a:pPr/>
              <a:t>19/05/2026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" panose="02000505000000020004" pitchFamily="2" charset="77"/>
              </a:defRPr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" panose="02000505000000020004" pitchFamily="2" charset="77"/>
              </a:defRPr>
            </a:lvl1pPr>
          </a:lstStyle>
          <a:p>
            <a:fld id="{26C00BF7-11F8-AE44-A029-18F6EC42653F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8171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ontserrat" panose="02000505000000020004" pitchFamily="2" charset="7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lutech.it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documento - immagi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FFA37BF-B693-18A2-3FF9-38E1B0C3B6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olo 4">
            <a:extLst>
              <a:ext uri="{FF2B5EF4-FFF2-40B4-BE49-F238E27FC236}">
                <a16:creationId xmlns:a16="http://schemas.microsoft.com/office/drawing/2014/main" id="{94948318-395C-4E44-92BD-ABC912432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201" y="2264839"/>
            <a:ext cx="6852681" cy="1807713"/>
          </a:xfrm>
        </p:spPr>
        <p:txBody>
          <a:bodyPr lIns="0" tIns="0" rIns="0" bIns="0" anchor="b" anchorCtr="0">
            <a:noAutofit/>
          </a:bodyPr>
          <a:lstStyle>
            <a:lvl1pPr>
              <a:defRPr lang="it-IT" sz="3600" b="0" i="0" kern="1200" cap="none" spc="100" baseline="0" dirty="0">
                <a:solidFill>
                  <a:schemeClr val="bg1"/>
                </a:solidFill>
                <a:latin typeface="Montserrat ExtraBold" panose="00000900000000000000" pitchFamily="2" charset="0"/>
                <a:ea typeface="Lutech" pitchFamily="2" charset="-128"/>
                <a:cs typeface="Lutech" pitchFamily="2" charset="-128"/>
              </a:defRPr>
            </a:lvl1pPr>
          </a:lstStyle>
          <a:p>
            <a:r>
              <a:rPr lang="it-IT" dirty="0"/>
              <a:t>Titolo </a:t>
            </a:r>
            <a:br>
              <a:rPr lang="it-IT" dirty="0"/>
            </a:br>
            <a:r>
              <a:rPr lang="it-IT" dirty="0"/>
              <a:t>documento</a:t>
            </a:r>
            <a:br>
              <a:rPr lang="it-IT" dirty="0"/>
            </a:br>
            <a:r>
              <a:rPr lang="it-IT" dirty="0"/>
              <a:t>copertina ufficiale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3266D88B-76FE-BF46-8719-0CAF7E02EE1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6375" y="4277224"/>
            <a:ext cx="6850732" cy="1218141"/>
          </a:xfrm>
        </p:spPr>
        <p:txBody>
          <a:bodyPr>
            <a:normAutofit/>
          </a:bodyPr>
          <a:lstStyle>
            <a:lvl1pPr>
              <a:defRPr sz="1800" spc="100" baseline="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Sottotitolo documento</a:t>
            </a:r>
          </a:p>
        </p:txBody>
      </p:sp>
      <p:sp>
        <p:nvSpPr>
          <p:cNvPr id="9" name="Segnaposto testo 3">
            <a:extLst>
              <a:ext uri="{FF2B5EF4-FFF2-40B4-BE49-F238E27FC236}">
                <a16:creationId xmlns:a16="http://schemas.microsoft.com/office/drawing/2014/main" id="{1BAEFCE1-DE7D-7D48-B4B0-045EA1C1D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375" y="6139891"/>
            <a:ext cx="5389563" cy="312982"/>
          </a:xfrm>
        </p:spPr>
        <p:txBody>
          <a:bodyPr anchor="b" anchorCtr="0">
            <a:normAutofit/>
          </a:bodyPr>
          <a:lstStyle>
            <a:lvl1pPr>
              <a:defRPr sz="1200" b="1" spc="50" baseline="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Fare clic per inserire data</a:t>
            </a:r>
          </a:p>
        </p:txBody>
      </p:sp>
      <p:pic>
        <p:nvPicPr>
          <p:cNvPr id="11" name="Segnaposto contenuto 3">
            <a:extLst>
              <a:ext uri="{FF2B5EF4-FFF2-40B4-BE49-F238E27FC236}">
                <a16:creationId xmlns:a16="http://schemas.microsoft.com/office/drawing/2014/main" id="{17C53896-13CC-C403-EA79-E2AAA2FDCC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9706" y="639429"/>
            <a:ext cx="2983411" cy="7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2012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CAA80A8B-259B-C148-AAB7-3FEA8283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lang="it-IT" dirty="0"/>
            </a:lvl1pPr>
          </a:lstStyle>
          <a:p>
            <a:endParaRPr lang="it-IT" dirty="0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97761A0F-65B6-3426-3863-17E52013D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23" y="198164"/>
            <a:ext cx="11080840" cy="288925"/>
          </a:xfrm>
        </p:spPr>
        <p:txBody>
          <a:bodyPr/>
          <a:lstStyle>
            <a:lvl1pPr>
              <a:defRPr>
                <a:solidFill>
                  <a:srgbClr val="C00036"/>
                </a:solidFill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it-IT" dirty="0"/>
              <a:t>TITOLO OCCHIELLO (PER TITOLI LUNGHI O SEZIONE)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58ACD4FB-F2D5-A3CB-C6C1-7655B4DA57C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474" y="1304925"/>
            <a:ext cx="11063589" cy="475297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56593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CAA80A8B-259B-C148-AAB7-3FEA8283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lang="it-IT" dirty="0"/>
            </a:lvl1pPr>
          </a:lstStyle>
          <a:p>
            <a:endParaRPr lang="it-IT" dirty="0"/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97761A0F-65B6-3426-3863-17E52013DD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23" y="995615"/>
            <a:ext cx="11080840" cy="288925"/>
          </a:xfrm>
        </p:spPr>
        <p:txBody>
          <a:bodyPr/>
          <a:lstStyle>
            <a:lvl1pPr>
              <a:defRPr>
                <a:solidFill>
                  <a:srgbClr val="C00036"/>
                </a:solidFill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it-IT" dirty="0"/>
              <a:t>TITOLO OCCHIELLO (PER TITOLI LUNGHI O SEZIONE)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58ACD4FB-F2D5-A3CB-C6C1-7655B4DA57C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474" y="1481615"/>
            <a:ext cx="11063589" cy="457628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151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CAA80A8B-259B-C148-AAB7-3FEA8283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lang="it-IT" dirty="0"/>
            </a:lvl1pPr>
          </a:lstStyle>
          <a:p>
            <a:endParaRPr lang="it-IT" dirty="0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58ACD4FB-F2D5-A3CB-C6C1-7655B4DA57C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474" y="1304925"/>
            <a:ext cx="11063589" cy="475297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138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DEDE3FEE-7816-AD3C-BA6A-CDB50310C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sz="3200" b="0" cap="none" spc="-150" baseline="0">
                <a:latin typeface="Montserrat ExtraBold" panose="00000900000000000000" pitchFamily="50" charset="0"/>
              </a:defRPr>
            </a:lvl1pPr>
          </a:lstStyle>
          <a:p>
            <a:endParaRPr lang="it-IT" dirty="0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65E4368A-C51E-2EE6-FE10-BB323F3AD58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474" y="1304925"/>
            <a:ext cx="11063589" cy="475297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  <p:sp>
        <p:nvSpPr>
          <p:cNvPr id="8" name="Segnaposto testo 12">
            <a:extLst>
              <a:ext uri="{FF2B5EF4-FFF2-40B4-BE49-F238E27FC236}">
                <a16:creationId xmlns:a16="http://schemas.microsoft.com/office/drawing/2014/main" id="{C19796BC-A15B-B9E0-EB55-43171609EB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23" y="198164"/>
            <a:ext cx="11080840" cy="288925"/>
          </a:xfrm>
        </p:spPr>
        <p:txBody>
          <a:bodyPr/>
          <a:lstStyle>
            <a:lvl1pPr>
              <a:defRPr>
                <a:solidFill>
                  <a:srgbClr val="C00036"/>
                </a:solidFill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it-IT" dirty="0"/>
              <a:t>TITOLO OCCHIELLO (PER TITOLI LUNGHI O SEZIONE)</a:t>
            </a:r>
          </a:p>
        </p:txBody>
      </p:sp>
    </p:spTree>
    <p:extLst>
      <p:ext uri="{BB962C8B-B14F-4D97-AF65-F5344CB8AC3E}">
        <p14:creationId xmlns:p14="http://schemas.microsoft.com/office/powerpoint/2010/main" val="222937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sto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85D512F-F1ED-796C-1662-8E4BD3764579}"/>
              </a:ext>
            </a:extLst>
          </p:cNvPr>
          <p:cNvSpPr/>
          <p:nvPr userDrawn="1"/>
        </p:nvSpPr>
        <p:spPr>
          <a:xfrm>
            <a:off x="0" y="1304925"/>
            <a:ext cx="4925961" cy="5553075"/>
          </a:xfrm>
          <a:prstGeom prst="rect">
            <a:avLst/>
          </a:prstGeom>
          <a:solidFill>
            <a:srgbClr val="FFFFFF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EDF7C08-FDFE-4E47-9B79-2A3FD186E65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474" y="1304925"/>
            <a:ext cx="11063589" cy="475297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5BA3355E-1419-8790-A2D5-DB703879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sz="3200" b="0" cap="none" spc="-150" baseline="0">
                <a:latin typeface="Montserrat ExtraBold" panose="00000900000000000000" pitchFamily="50" charset="0"/>
              </a:defRPr>
            </a:lvl1pPr>
          </a:lstStyle>
          <a:p>
            <a:endParaRPr lang="it-IT" dirty="0"/>
          </a:p>
        </p:txBody>
      </p:sp>
      <p:sp>
        <p:nvSpPr>
          <p:cNvPr id="9" name="Segnaposto testo 12">
            <a:extLst>
              <a:ext uri="{FF2B5EF4-FFF2-40B4-BE49-F238E27FC236}">
                <a16:creationId xmlns:a16="http://schemas.microsoft.com/office/drawing/2014/main" id="{96B2C91A-5119-4A98-543F-2832CD0638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23" y="198164"/>
            <a:ext cx="11080840" cy="288925"/>
          </a:xfrm>
        </p:spPr>
        <p:txBody>
          <a:bodyPr/>
          <a:lstStyle>
            <a:lvl1pPr>
              <a:defRPr>
                <a:solidFill>
                  <a:srgbClr val="C00036"/>
                </a:solidFill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it-IT" dirty="0"/>
              <a:t>TITOLO OCCHIELLO (PER TITOLI LUNGHI O SEZIONE)</a:t>
            </a:r>
          </a:p>
        </p:txBody>
      </p:sp>
    </p:spTree>
    <p:extLst>
      <p:ext uri="{BB962C8B-B14F-4D97-AF65-F5344CB8AC3E}">
        <p14:creationId xmlns:p14="http://schemas.microsoft.com/office/powerpoint/2010/main" val="266120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sto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9780BFEF-7D0C-5365-344D-14CB03F7799E}"/>
              </a:ext>
            </a:extLst>
          </p:cNvPr>
          <p:cNvSpPr/>
          <p:nvPr userDrawn="1"/>
        </p:nvSpPr>
        <p:spPr>
          <a:xfrm>
            <a:off x="7266039" y="0"/>
            <a:ext cx="4925961" cy="5553075"/>
          </a:xfrm>
          <a:prstGeom prst="rect">
            <a:avLst/>
          </a:prstGeom>
          <a:solidFill>
            <a:srgbClr val="FFFFFF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EDF7C08-FDFE-4E47-9B79-2A3FD186E65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475" y="1304925"/>
            <a:ext cx="11063588" cy="475297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FA9B2553-F913-39F3-C8EF-98A52C911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sz="3200" b="0" cap="none" spc="-150" baseline="0">
                <a:latin typeface="Montserrat ExtraBold" panose="00000900000000000000" pitchFamily="50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esto 12">
            <a:extLst>
              <a:ext uri="{FF2B5EF4-FFF2-40B4-BE49-F238E27FC236}">
                <a16:creationId xmlns:a16="http://schemas.microsoft.com/office/drawing/2014/main" id="{3332A4C4-3526-AB52-53C6-08193DB24C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23" y="198164"/>
            <a:ext cx="11080840" cy="288925"/>
          </a:xfrm>
        </p:spPr>
        <p:txBody>
          <a:bodyPr/>
          <a:lstStyle>
            <a:lvl1pPr>
              <a:defRPr>
                <a:solidFill>
                  <a:srgbClr val="C00036"/>
                </a:solidFill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it-IT" dirty="0"/>
              <a:t>TITOLO OCCHIELLO (PER TITOLI LUNGHI O SEZIONE)</a:t>
            </a:r>
          </a:p>
        </p:txBody>
      </p:sp>
    </p:spTree>
    <p:extLst>
      <p:ext uri="{BB962C8B-B14F-4D97-AF65-F5344CB8AC3E}">
        <p14:creationId xmlns:p14="http://schemas.microsoft.com/office/powerpoint/2010/main" val="203476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sto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EDF7C08-FDFE-4E47-9B79-2A3FD186E65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3849" y="1304925"/>
            <a:ext cx="11072214" cy="475297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08FB18E-7AFD-7D4C-EF5D-B1BE1C16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sz="3200" b="0" cap="none" spc="-150" baseline="0">
                <a:latin typeface="Montserrat ExtraBold" panose="00000900000000000000" pitchFamily="50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esto 12">
            <a:extLst>
              <a:ext uri="{FF2B5EF4-FFF2-40B4-BE49-F238E27FC236}">
                <a16:creationId xmlns:a16="http://schemas.microsoft.com/office/drawing/2014/main" id="{691ADE24-F3D0-5243-706C-DB431EFEC8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23" y="198164"/>
            <a:ext cx="11080840" cy="288925"/>
          </a:xfrm>
        </p:spPr>
        <p:txBody>
          <a:bodyPr/>
          <a:lstStyle>
            <a:lvl1pPr>
              <a:defRPr>
                <a:solidFill>
                  <a:srgbClr val="C00036"/>
                </a:solidFill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it-IT" dirty="0"/>
              <a:t>TITOLO OCCHIELLO (PER TITOLI LUNGHI O SEZIONE)</a:t>
            </a:r>
          </a:p>
        </p:txBody>
      </p:sp>
    </p:spTree>
    <p:extLst>
      <p:ext uri="{BB962C8B-B14F-4D97-AF65-F5344CB8AC3E}">
        <p14:creationId xmlns:p14="http://schemas.microsoft.com/office/powerpoint/2010/main" val="4044973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+ Titolo 2 righ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088C6944-4634-4044-017D-C5F6AD8157ED}"/>
              </a:ext>
            </a:extLst>
          </p:cNvPr>
          <p:cNvSpPr/>
          <p:nvPr userDrawn="1"/>
        </p:nvSpPr>
        <p:spPr>
          <a:xfrm>
            <a:off x="7266039" y="0"/>
            <a:ext cx="4925961" cy="6858000"/>
          </a:xfrm>
          <a:prstGeom prst="rect">
            <a:avLst/>
          </a:prstGeom>
          <a:solidFill>
            <a:srgbClr val="FFFFFF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52AA6869-4499-7EFA-D37F-BFE33D27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sz="3200" b="0" cap="none" spc="-150" baseline="0">
                <a:latin typeface="Montserrat ExtraBold" panose="00000900000000000000" pitchFamily="50" charset="0"/>
              </a:defRPr>
            </a:lvl1pPr>
          </a:lstStyle>
          <a:p>
            <a:endParaRPr lang="it-IT" dirty="0"/>
          </a:p>
        </p:txBody>
      </p:sp>
      <p:sp>
        <p:nvSpPr>
          <p:cNvPr id="12" name="Segnaposto piè di pagina 15">
            <a:extLst>
              <a:ext uri="{FF2B5EF4-FFF2-40B4-BE49-F238E27FC236}">
                <a16:creationId xmlns:a16="http://schemas.microsoft.com/office/drawing/2014/main" id="{1A26AD95-6F71-D14D-501D-64617C31E714}"/>
              </a:ext>
            </a:extLst>
          </p:cNvPr>
          <p:cNvSpPr txBox="1">
            <a:spLocks/>
          </p:cNvSpPr>
          <p:nvPr userDrawn="1"/>
        </p:nvSpPr>
        <p:spPr>
          <a:xfrm>
            <a:off x="9691183" y="6445361"/>
            <a:ext cx="1857807" cy="210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pc="100" dirty="0" err="1">
                <a:latin typeface="Montserrat" panose="02000505000000020004" pitchFamily="2" charset="77"/>
              </a:rPr>
              <a:t>Confidential</a:t>
            </a:r>
            <a:r>
              <a:rPr lang="it-IT" spc="100" baseline="0" dirty="0">
                <a:latin typeface="Montserrat" panose="02000505000000020004" pitchFamily="2" charset="77"/>
              </a:rPr>
              <a:t> </a:t>
            </a:r>
            <a:r>
              <a:rPr lang="it-IT" spc="100" dirty="0">
                <a:latin typeface="Montserrat" panose="02000505000000020004" pitchFamily="2" charset="77"/>
              </a:rPr>
              <a:t>Lutech©2024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0C6FA4DB-EDDB-959F-CD59-C1C5DA746A4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3849" y="1304925"/>
            <a:ext cx="11072214" cy="475297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29C76184-4F80-5426-19D5-8643483DF4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48990" y="6394944"/>
            <a:ext cx="431043" cy="265740"/>
          </a:xfrm>
          <a:prstGeom prst="rect">
            <a:avLst/>
          </a:prstGeom>
        </p:spPr>
      </p:pic>
      <p:sp>
        <p:nvSpPr>
          <p:cNvPr id="10" name="Segnaposto testo 12">
            <a:extLst>
              <a:ext uri="{FF2B5EF4-FFF2-40B4-BE49-F238E27FC236}">
                <a16:creationId xmlns:a16="http://schemas.microsoft.com/office/drawing/2014/main" id="{55B1D606-C1AA-12B5-72E9-ACFE827BCC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23" y="198164"/>
            <a:ext cx="11080840" cy="288925"/>
          </a:xfrm>
        </p:spPr>
        <p:txBody>
          <a:bodyPr/>
          <a:lstStyle>
            <a:lvl1pPr>
              <a:defRPr>
                <a:solidFill>
                  <a:srgbClr val="C00036"/>
                </a:solidFill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it-IT" dirty="0"/>
              <a:t>TITOLO OCCHIELLO (PER TITOLI LUNGHI O SEZIONE)</a:t>
            </a:r>
          </a:p>
        </p:txBody>
      </p:sp>
    </p:spTree>
    <p:extLst>
      <p:ext uri="{BB962C8B-B14F-4D97-AF65-F5344CB8AC3E}">
        <p14:creationId xmlns:p14="http://schemas.microsoft.com/office/powerpoint/2010/main" val="379605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sto + Titolo 2 righ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12">
            <a:extLst>
              <a:ext uri="{FF2B5EF4-FFF2-40B4-BE49-F238E27FC236}">
                <a16:creationId xmlns:a16="http://schemas.microsoft.com/office/drawing/2014/main" id="{321FA706-F0C4-AC75-1292-500E3E86A9D4}"/>
              </a:ext>
            </a:extLst>
          </p:cNvPr>
          <p:cNvSpPr/>
          <p:nvPr userDrawn="1"/>
        </p:nvSpPr>
        <p:spPr>
          <a:xfrm>
            <a:off x="0" y="1304925"/>
            <a:ext cx="4925961" cy="5553075"/>
          </a:xfrm>
          <a:prstGeom prst="rect">
            <a:avLst/>
          </a:prstGeom>
          <a:solidFill>
            <a:srgbClr val="FFFFFF">
              <a:alpha val="7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469B3EAD-2340-2945-A2FA-32F9216418F8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BAB75E54-FFFA-4A69-ED15-C1EF625B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23" y="519613"/>
            <a:ext cx="11080839" cy="486000"/>
          </a:xfrm>
        </p:spPr>
        <p:txBody>
          <a:bodyPr anchor="t" anchorCtr="0">
            <a:noAutofit/>
          </a:bodyPr>
          <a:lstStyle>
            <a:lvl1pPr>
              <a:defRPr sz="3200" b="0" cap="none" spc="-150" baseline="0">
                <a:latin typeface="Montserrat ExtraBold" panose="00000900000000000000" pitchFamily="50" charset="0"/>
              </a:defRPr>
            </a:lvl1pPr>
          </a:lstStyle>
          <a:p>
            <a:endParaRPr lang="it-IT" dirty="0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1E724DF3-486E-B809-BA22-883DB2BDDF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3849" y="1304925"/>
            <a:ext cx="11072214" cy="4752975"/>
          </a:xfrm>
        </p:spPr>
        <p:txBody>
          <a:bodyPr lIns="0" tIns="0" rIns="0" bIns="0" spcCol="36000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testo</a:t>
            </a:r>
            <a:endParaRPr lang="it-IT" dirty="0"/>
          </a:p>
        </p:txBody>
      </p:sp>
      <p:sp>
        <p:nvSpPr>
          <p:cNvPr id="8" name="Segnaposto testo 12">
            <a:extLst>
              <a:ext uri="{FF2B5EF4-FFF2-40B4-BE49-F238E27FC236}">
                <a16:creationId xmlns:a16="http://schemas.microsoft.com/office/drawing/2014/main" id="{44084AFD-769A-1F39-3E3A-11800C1DD4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223" y="198164"/>
            <a:ext cx="11080840" cy="288925"/>
          </a:xfrm>
        </p:spPr>
        <p:txBody>
          <a:bodyPr/>
          <a:lstStyle>
            <a:lvl1pPr>
              <a:defRPr>
                <a:solidFill>
                  <a:srgbClr val="C00036"/>
                </a:solidFill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it-IT" dirty="0"/>
              <a:t>TITOLO OCCHIELLO (PER TITOLI LUNGHI O SEZIONE)</a:t>
            </a:r>
          </a:p>
        </p:txBody>
      </p:sp>
    </p:spTree>
    <p:extLst>
      <p:ext uri="{BB962C8B-B14F-4D97-AF65-F5344CB8AC3E}">
        <p14:creationId xmlns:p14="http://schemas.microsoft.com/office/powerpoint/2010/main" val="1482643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DE0E8A92-8389-F245-9A69-3F50C95BDD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2"/>
          <a:stretch/>
        </p:blipFill>
        <p:spPr>
          <a:xfrm>
            <a:off x="4479762" y="1091462"/>
            <a:ext cx="7712238" cy="4984362"/>
          </a:xfrm>
          <a:prstGeom prst="rect">
            <a:avLst/>
          </a:prstGeom>
          <a:noFill/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B63558C-620E-6C41-8629-4B915540D3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475" y="2744787"/>
            <a:ext cx="5304138" cy="1044575"/>
          </a:xfrm>
        </p:spPr>
        <p:txBody>
          <a:bodyPr lIns="0" tIns="0" rIns="0" bIns="0" anchor="ctr" anchorCtr="0">
            <a:noAutofit/>
          </a:bodyPr>
          <a:lstStyle>
            <a:lvl1pPr>
              <a:defRPr lang="it-IT" sz="3600" b="0" i="0" kern="1200" cap="none" spc="-150" baseline="0" dirty="0">
                <a:solidFill>
                  <a:schemeClr val="tx1"/>
                </a:solidFill>
                <a:latin typeface="Montserrat ExtraBold" panose="00000900000000000000" pitchFamily="50" charset="0"/>
                <a:ea typeface="+mj-ea"/>
                <a:cs typeface="+mj-cs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7" name="Segnaposto numero diapositiva 21">
            <a:extLst>
              <a:ext uri="{FF2B5EF4-FFF2-40B4-BE49-F238E27FC236}">
                <a16:creationId xmlns:a16="http://schemas.microsoft.com/office/drawing/2014/main" id="{BD02DAFA-0911-1E45-B21A-7CF52B4D3A59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D052DC-B25E-764B-8C6B-5763CACC5FC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75388" y="476248"/>
            <a:ext cx="5304137" cy="5581653"/>
          </a:xfrm>
        </p:spPr>
        <p:txBody>
          <a:bodyPr lIns="0" tIns="0" rIns="0" bIns="0" spcCol="360000" anchor="ctr" anchorCtr="0"/>
          <a:lstStyle>
            <a:lvl1pPr>
              <a:defRPr/>
            </a:lvl1pPr>
          </a:lstStyle>
          <a:p>
            <a:pPr lvl="0"/>
            <a:r>
              <a:rPr lang="en-US" dirty="0"/>
              <a:t>Fare </a:t>
            </a:r>
            <a:r>
              <a:rPr lang="en-US" dirty="0" err="1"/>
              <a:t>clic</a:t>
            </a:r>
            <a:r>
              <a:rPr lang="en-US" dirty="0"/>
              <a:t> per </a:t>
            </a:r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titoli</a:t>
            </a:r>
            <a:r>
              <a:rPr lang="en-US" dirty="0"/>
              <a:t> </a:t>
            </a:r>
            <a:r>
              <a:rPr lang="en-US" dirty="0" err="1"/>
              <a:t>dell’agenda</a:t>
            </a:r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28C955B-6286-1E10-2F16-81F963A4B927}"/>
              </a:ext>
            </a:extLst>
          </p:cNvPr>
          <p:cNvSpPr/>
          <p:nvPr userDrawn="1"/>
        </p:nvSpPr>
        <p:spPr>
          <a:xfrm>
            <a:off x="0" y="476248"/>
            <a:ext cx="519238" cy="615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3281857-2E8C-0B49-C170-FF8BFD6965E1}"/>
              </a:ext>
            </a:extLst>
          </p:cNvPr>
          <p:cNvSpPr/>
          <p:nvPr userDrawn="1"/>
        </p:nvSpPr>
        <p:spPr>
          <a:xfrm flipH="1">
            <a:off x="-1887" y="3024073"/>
            <a:ext cx="214604" cy="486000"/>
          </a:xfrm>
          <a:prstGeom prst="rect">
            <a:avLst/>
          </a:prstGeom>
          <a:solidFill>
            <a:srgbClr val="C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C016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956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ity notic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21">
            <a:extLst>
              <a:ext uri="{FF2B5EF4-FFF2-40B4-BE49-F238E27FC236}">
                <a16:creationId xmlns:a16="http://schemas.microsoft.com/office/drawing/2014/main" id="{6B03047F-E20B-EB40-9173-72E0A94B75CD}"/>
              </a:ext>
            </a:extLst>
          </p:cNvPr>
          <p:cNvSpPr txBox="1">
            <a:spLocks/>
          </p:cNvSpPr>
          <p:nvPr userDrawn="1"/>
        </p:nvSpPr>
        <p:spPr>
          <a:xfrm>
            <a:off x="519238" y="6387596"/>
            <a:ext cx="246613" cy="123111"/>
          </a:xfrm>
          <a:prstGeom prst="rect">
            <a:avLst/>
          </a:prstGeom>
        </p:spPr>
        <p:txBody>
          <a:bodyPr lIns="0" tIns="0" rIns="0" bIns="0"/>
          <a:lstStyle>
            <a:defPPr>
              <a:defRPr lang="it-IT"/>
            </a:defPPr>
            <a:lvl1pPr marL="0" algn="l" defTabSz="914400" rtl="0" eaLnBrk="1" latinLnBrk="0" hangingPunct="1">
              <a:defRPr sz="800" kern="1200">
                <a:solidFill>
                  <a:schemeClr val="tx2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9E52D6-81D6-8342-82E6-28E3A22B7A87}" type="slidenum">
              <a:rPr lang="it-IT" smtClean="0">
                <a:solidFill>
                  <a:schemeClr val="bg1"/>
                </a:solidFill>
              </a:rPr>
              <a:pPr/>
              <a:t>‹#›</a:t>
            </a:fld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7DA717B-FC25-3D49-8114-C6C13D17F8D2}"/>
              </a:ext>
            </a:extLst>
          </p:cNvPr>
          <p:cNvSpPr txBox="1"/>
          <p:nvPr userDrawn="1"/>
        </p:nvSpPr>
        <p:spPr>
          <a:xfrm>
            <a:off x="-194840" y="3180131"/>
            <a:ext cx="5364162" cy="10445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it-IT" sz="3600" b="0" i="0" kern="1200" cap="none" spc="-150" baseline="0" dirty="0">
                <a:solidFill>
                  <a:schemeClr val="bg1"/>
                </a:solidFill>
                <a:latin typeface="Montserrat ExtraBold" panose="00000900000000000000" pitchFamily="50" charset="0"/>
                <a:ea typeface="+mj-ea"/>
                <a:cs typeface="+mj-cs"/>
              </a:rPr>
              <a:t>CONFIDENTIALITY NOTICE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B6FEA20-0611-A944-BB0D-158569062DAD}"/>
              </a:ext>
            </a:extLst>
          </p:cNvPr>
          <p:cNvSpPr txBox="1"/>
          <p:nvPr userDrawn="1"/>
        </p:nvSpPr>
        <p:spPr>
          <a:xfrm>
            <a:off x="5564611" y="929057"/>
            <a:ext cx="5397414" cy="5581650"/>
          </a:xfrm>
          <a:prstGeom prst="rect">
            <a:avLst/>
          </a:prstGeom>
          <a:noFill/>
        </p:spPr>
        <p:txBody>
          <a:bodyPr wrap="square" lIns="0" tIns="0" rIns="0" bIns="0" numCol="1" spcCol="360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it-IT" sz="800" dirty="0">
                <a:solidFill>
                  <a:schemeClr val="bg1"/>
                </a:solidFill>
                <a:latin typeface="Montserrat" panose="02000505000000020004" pitchFamily="2" charset="77"/>
              </a:rPr>
              <a:t>Le informazioni, i dati e le immagini contenuti in questo documento sono strettamente confidenziali e riservati, di esclusiva proprietà di Lutech.</a:t>
            </a:r>
          </a:p>
          <a:p>
            <a:pPr>
              <a:lnSpc>
                <a:spcPct val="150000"/>
              </a:lnSpc>
            </a:pPr>
            <a:r>
              <a:rPr lang="it-IT" sz="800" dirty="0">
                <a:solidFill>
                  <a:schemeClr val="bg1"/>
                </a:solidFill>
                <a:latin typeface="Montserrat" panose="02000505000000020004" pitchFamily="2" charset="77"/>
              </a:rPr>
              <a:t>Sono disponibili esclusivamente per persone o società a cui è stato direttamente consegnato il documento e non sono divulgabili a terzi senza il consenso scritto dell’Ufficio Comunicazione di </a:t>
            </a:r>
            <a:r>
              <a:rPr lang="it-IT" sz="800" dirty="0" err="1">
                <a:solidFill>
                  <a:schemeClr val="bg1"/>
                </a:solidFill>
                <a:latin typeface="Montserrat" panose="02000505000000020004" pitchFamily="2" charset="77"/>
              </a:rPr>
              <a:t>Lutech</a:t>
            </a:r>
            <a:r>
              <a:rPr lang="it-IT" sz="800" dirty="0">
                <a:solidFill>
                  <a:schemeClr val="bg1"/>
                </a:solidFill>
                <a:latin typeface="Montserrat" panose="02000505000000020004" pitchFamily="2" charset="77"/>
              </a:rPr>
              <a:t>, che può essere contattato all’indirizzo </a:t>
            </a:r>
            <a:r>
              <a:rPr lang="it-IT" sz="800" u="sng" dirty="0" err="1">
                <a:solidFill>
                  <a:schemeClr val="bg1"/>
                </a:solidFill>
                <a:latin typeface="Montserrat" panose="02000505000000020004" pitchFamily="2" charset="77"/>
              </a:rPr>
              <a:t>comunicazione@lutech.it</a:t>
            </a:r>
            <a:r>
              <a:rPr lang="it-IT" sz="800" dirty="0">
                <a:solidFill>
                  <a:schemeClr val="bg1"/>
                </a:solidFill>
                <a:latin typeface="Montserrat" panose="02000505000000020004" pitchFamily="2" charset="7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it-IT" sz="800" dirty="0">
                <a:solidFill>
                  <a:schemeClr val="bg1"/>
                </a:solidFill>
                <a:latin typeface="Montserrat" panose="02000505000000020004" pitchFamily="2" charset="77"/>
              </a:rPr>
              <a:t>I loghi di terze parti (es. partner, clienti, ecc.) sono da considerarsi indicativi.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179B94A-A6F6-3D1D-BE7A-5B5128224B80}"/>
              </a:ext>
            </a:extLst>
          </p:cNvPr>
          <p:cNvSpPr/>
          <p:nvPr userDrawn="1"/>
        </p:nvSpPr>
        <p:spPr>
          <a:xfrm rot="5400000" flipH="1">
            <a:off x="-37499" y="534645"/>
            <a:ext cx="594230" cy="519239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E81B44"/>
              </a:solidFill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1416B4C-E6A8-71D9-83DA-49B1222792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7"/>
          <a:stretch/>
        </p:blipFill>
        <p:spPr>
          <a:xfrm>
            <a:off x="4479761" y="1099196"/>
            <a:ext cx="7712240" cy="499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82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3E91E9BD-3F16-8DBD-2F3B-4464623D50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04870C4-A47B-5248-9954-92395F36815F}"/>
              </a:ext>
            </a:extLst>
          </p:cNvPr>
          <p:cNvSpPr txBox="1"/>
          <p:nvPr userDrawn="1"/>
        </p:nvSpPr>
        <p:spPr>
          <a:xfrm>
            <a:off x="942262" y="2431647"/>
            <a:ext cx="2689029" cy="2722244"/>
          </a:xfrm>
          <a:prstGeom prst="rect">
            <a:avLst/>
          </a:prstGeom>
          <a:noFill/>
        </p:spPr>
        <p:txBody>
          <a:bodyPr wrap="square" lIns="0" tIns="0" rIns="0" bIns="0" numCol="1" spcCol="360000" rtlCol="0">
            <a:noAutofit/>
          </a:bodyPr>
          <a:lstStyle/>
          <a:p>
            <a:pPr>
              <a:lnSpc>
                <a:spcPts val="1400"/>
              </a:lnSpc>
            </a:pPr>
            <a:r>
              <a:rPr lang="it-IT" sz="1000" b="1" dirty="0">
                <a:solidFill>
                  <a:schemeClr val="bg1"/>
                </a:solidFill>
                <a:latin typeface="Montserrat" panose="02000505000000020004" pitchFamily="2" charset="77"/>
              </a:rPr>
              <a:t>Headquarters</a:t>
            </a:r>
            <a:b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</a:b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  <a:t>Via Massimo Gorki, 30/32C</a:t>
            </a:r>
          </a:p>
          <a:p>
            <a:pPr>
              <a:lnSpc>
                <a:spcPts val="1400"/>
              </a:lnSpc>
            </a:pP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  <a:t>20092 Cinisello Balsamo (MI)</a:t>
            </a:r>
          </a:p>
          <a:p>
            <a:pPr>
              <a:lnSpc>
                <a:spcPts val="1400"/>
              </a:lnSpc>
            </a:pP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  <a:t>P.IVA 02824320176</a:t>
            </a:r>
          </a:p>
          <a:p>
            <a:pPr>
              <a:lnSpc>
                <a:spcPts val="1400"/>
              </a:lnSpc>
            </a:pPr>
            <a:r>
              <a:rPr lang="it-IT" sz="1000" dirty="0" err="1">
                <a:solidFill>
                  <a:schemeClr val="bg1"/>
                </a:solidFill>
                <a:latin typeface="Montserrat" panose="02000505000000020004" pitchFamily="2" charset="77"/>
              </a:rPr>
              <a:t>Tel</a:t>
            </a: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  <a:t>  +39 02 25427011</a:t>
            </a:r>
          </a:p>
          <a:p>
            <a:pPr>
              <a:lnSpc>
                <a:spcPts val="1400"/>
              </a:lnSpc>
            </a:pP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  <a:t>Fax +39 02 25427090</a:t>
            </a:r>
          </a:p>
          <a:p>
            <a:pPr>
              <a:lnSpc>
                <a:spcPts val="1400"/>
              </a:lnSpc>
            </a:pP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  <a:hlinkClick r:id="rId3"/>
              </a:rPr>
              <a:t>info@lutech.it</a:t>
            </a:r>
            <a:endParaRPr lang="it-IT" sz="1000" dirty="0">
              <a:solidFill>
                <a:schemeClr val="bg1"/>
              </a:solidFill>
              <a:latin typeface="Montserrat" panose="02000505000000020004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1" dirty="0">
                <a:solidFill>
                  <a:schemeClr val="bg1"/>
                </a:solidFill>
                <a:latin typeface="Montserrat" panose="02000505000000020004" pitchFamily="2" charset="77"/>
              </a:rPr>
              <a:t>Sede Roma</a:t>
            </a:r>
          </a:p>
          <a:p>
            <a:pPr>
              <a:lnSpc>
                <a:spcPts val="1400"/>
              </a:lnSpc>
            </a:pP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  <a:t>Via Via Giuseppe </a:t>
            </a:r>
            <a:r>
              <a:rPr lang="it-IT" sz="1000" dirty="0" err="1">
                <a:solidFill>
                  <a:schemeClr val="bg1"/>
                </a:solidFill>
                <a:latin typeface="Montserrat" panose="02000505000000020004" pitchFamily="2" charset="77"/>
              </a:rPr>
              <a:t>Grezar</a:t>
            </a: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  <a:t>, 34</a:t>
            </a:r>
          </a:p>
          <a:p>
            <a:pPr>
              <a:lnSpc>
                <a:spcPts val="1400"/>
              </a:lnSpc>
            </a:pPr>
            <a: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  <a:t>00142 Roma (RM)</a:t>
            </a:r>
          </a:p>
          <a:p>
            <a:pPr>
              <a:lnSpc>
                <a:spcPts val="1400"/>
              </a:lnSpc>
            </a:pPr>
            <a:br>
              <a:rPr lang="it-IT" sz="1000" dirty="0">
                <a:solidFill>
                  <a:schemeClr val="bg1"/>
                </a:solidFill>
                <a:latin typeface="Montserrat" panose="02000505000000020004" pitchFamily="2" charset="77"/>
              </a:rPr>
            </a:br>
            <a:endParaRPr lang="it-IT" sz="1000" dirty="0">
              <a:solidFill>
                <a:schemeClr val="bg1"/>
              </a:solidFill>
              <a:latin typeface="Montserrat" panose="02000505000000020004" pitchFamily="2" charset="77"/>
            </a:endParaRPr>
          </a:p>
          <a:p>
            <a:pPr>
              <a:lnSpc>
                <a:spcPts val="1400"/>
              </a:lnSpc>
            </a:pPr>
            <a:r>
              <a:rPr lang="it-IT" sz="1000" b="1" dirty="0">
                <a:solidFill>
                  <a:schemeClr val="bg1"/>
                </a:solidFill>
                <a:latin typeface="Montserrat" panose="02000505000000020004" pitchFamily="2" charset="77"/>
              </a:rPr>
              <a:t>Sede Legale</a:t>
            </a:r>
          </a:p>
          <a:p>
            <a:pPr>
              <a:lnSpc>
                <a:spcPts val="1400"/>
              </a:lnSpc>
            </a:pPr>
            <a:r>
              <a:rPr lang="it-IT" sz="1000" dirty="0">
                <a:solidFill>
                  <a:schemeClr val="bg1"/>
                </a:solidFill>
                <a:latin typeface="Montserrat" panose="00000500000000000000" pitchFamily="2" charset="0"/>
              </a:rPr>
              <a:t>Via Rugabella, 1</a:t>
            </a:r>
            <a:br>
              <a:rPr lang="it-IT" sz="10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r>
              <a:rPr lang="it-IT" sz="1000" dirty="0">
                <a:solidFill>
                  <a:schemeClr val="bg1"/>
                </a:solidFill>
                <a:latin typeface="Montserrat" panose="00000500000000000000" pitchFamily="2" charset="0"/>
              </a:rPr>
              <a:t>20122 Milano (MI)</a:t>
            </a:r>
          </a:p>
        </p:txBody>
      </p:sp>
      <p:sp>
        <p:nvSpPr>
          <p:cNvPr id="3" name="Rettangolo 2"/>
          <p:cNvSpPr/>
          <p:nvPr userDrawn="1"/>
        </p:nvSpPr>
        <p:spPr>
          <a:xfrm>
            <a:off x="867601" y="5734076"/>
            <a:ext cx="2153154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1400"/>
              </a:lnSpc>
            </a:pPr>
            <a:r>
              <a:rPr lang="it-IT" sz="1400" b="1" spc="100" baseline="0" dirty="0">
                <a:solidFill>
                  <a:schemeClr val="bg1"/>
                </a:solidFill>
                <a:latin typeface="Montserrat" panose="02000505000000020004" pitchFamily="2" charset="77"/>
              </a:rPr>
              <a:t>www.lutech.group</a:t>
            </a:r>
          </a:p>
        </p:txBody>
      </p:sp>
      <p:pic>
        <p:nvPicPr>
          <p:cNvPr id="11" name="Segnaposto contenuto 3">
            <a:extLst>
              <a:ext uri="{FF2B5EF4-FFF2-40B4-BE49-F238E27FC236}">
                <a16:creationId xmlns:a16="http://schemas.microsoft.com/office/drawing/2014/main" id="{6AC14AA1-C13F-CECA-CAAA-EA463E3DE6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2262" y="800099"/>
            <a:ext cx="3664087" cy="88820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425F03F-281E-016D-9A9B-93FB1450DD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7"/>
          <a:stretch/>
        </p:blipFill>
        <p:spPr>
          <a:xfrm>
            <a:off x="4479761" y="1099196"/>
            <a:ext cx="7712240" cy="499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88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00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itolo 6">
            <a:extLst>
              <a:ext uri="{FF2B5EF4-FFF2-40B4-BE49-F238E27FC236}">
                <a16:creationId xmlns:a16="http://schemas.microsoft.com/office/drawing/2014/main" id="{555E20D9-733D-864A-B29F-24B4643E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01" y="435600"/>
            <a:ext cx="11054961" cy="48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13" name="Segnaposto numero diapositiva 21">
            <a:extLst>
              <a:ext uri="{FF2B5EF4-FFF2-40B4-BE49-F238E27FC236}">
                <a16:creationId xmlns:a16="http://schemas.microsoft.com/office/drawing/2014/main" id="{C19A2F28-5A1C-3E4D-B057-8CC0AD96C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9238" y="6384052"/>
            <a:ext cx="287212" cy="123111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800">
                <a:solidFill>
                  <a:schemeClr val="tx2"/>
                </a:solidFill>
                <a:latin typeface="Montserrat" panose="02000505000000020004" pitchFamily="2" charset="77"/>
              </a:defRPr>
            </a:lvl1pPr>
          </a:lstStyle>
          <a:p>
            <a:fld id="{DE9E52D6-81D6-8342-82E6-28E3A22B7A87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D9B57C-9166-A64E-904F-35B01B5F2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101" y="1304925"/>
            <a:ext cx="11054961" cy="4752976"/>
          </a:xfrm>
          <a:prstGeom prst="rect">
            <a:avLst/>
          </a:prstGeom>
        </p:spPr>
        <p:txBody>
          <a:bodyPr vert="horz" lIns="0" tIns="0" rIns="0" bIns="0" spcCol="360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6" name="Segnaposto piè di pagina 15">
            <a:extLst>
              <a:ext uri="{FF2B5EF4-FFF2-40B4-BE49-F238E27FC236}">
                <a16:creationId xmlns:a16="http://schemas.microsoft.com/office/drawing/2014/main" id="{367F2D6B-49CA-AB40-950C-B8FEE7D13B02}"/>
              </a:ext>
            </a:extLst>
          </p:cNvPr>
          <p:cNvSpPr txBox="1">
            <a:spLocks/>
          </p:cNvSpPr>
          <p:nvPr userDrawn="1"/>
        </p:nvSpPr>
        <p:spPr>
          <a:xfrm>
            <a:off x="9691183" y="6445361"/>
            <a:ext cx="1857807" cy="2105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pc="100" dirty="0" err="1">
                <a:latin typeface="Montserrat" panose="02000505000000020004" pitchFamily="2" charset="77"/>
              </a:rPr>
              <a:t>Confidential</a:t>
            </a:r>
            <a:r>
              <a:rPr lang="it-IT" spc="100" baseline="0" dirty="0">
                <a:latin typeface="Montserrat" panose="02000505000000020004" pitchFamily="2" charset="77"/>
              </a:rPr>
              <a:t> </a:t>
            </a:r>
            <a:r>
              <a:rPr lang="it-IT" spc="100" dirty="0">
                <a:latin typeface="Montserrat" panose="02000505000000020004" pitchFamily="2" charset="77"/>
              </a:rPr>
              <a:t>Lutech©2025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D1610D9-D8FA-696E-9F7B-2CD0EE7609BC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548990" y="6394944"/>
            <a:ext cx="431043" cy="26574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CA5D8992-06D6-7A92-8C88-DE56391B3AF8}"/>
              </a:ext>
            </a:extLst>
          </p:cNvPr>
          <p:cNvSpPr/>
          <p:nvPr userDrawn="1"/>
        </p:nvSpPr>
        <p:spPr>
          <a:xfrm flipH="1">
            <a:off x="0" y="538275"/>
            <a:ext cx="214604" cy="486000"/>
          </a:xfrm>
          <a:prstGeom prst="rect">
            <a:avLst/>
          </a:prstGeom>
          <a:solidFill>
            <a:srgbClr val="C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rgbClr val="E81B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325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9" r:id="rId2"/>
    <p:sldLayoutId id="2147483799" r:id="rId3"/>
    <p:sldLayoutId id="2147483798" r:id="rId4"/>
    <p:sldLayoutId id="2147483789" r:id="rId5"/>
    <p:sldLayoutId id="2147483752" r:id="rId6"/>
    <p:sldLayoutId id="2147483753" r:id="rId7"/>
    <p:sldLayoutId id="2147483758" r:id="rId8"/>
    <p:sldLayoutId id="2147483748" r:id="rId9"/>
    <p:sldLayoutId id="2147483765" r:id="rId10"/>
    <p:sldLayoutId id="2147483704" r:id="rId11"/>
    <p:sldLayoutId id="2147483723" r:id="rId12"/>
    <p:sldLayoutId id="2147483724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it-IT" sz="3200" b="0" i="0" kern="1200" cap="none" spc="-150" baseline="0" dirty="0">
          <a:solidFill>
            <a:schemeClr val="tx1"/>
          </a:solidFill>
          <a:latin typeface="Montserrat ExtraBold" panose="00000900000000000000" pitchFamily="50" charset="0"/>
          <a:ea typeface="+mj-ea"/>
          <a:cs typeface="+mj-cs"/>
        </a:defRPr>
      </a:lvl1pPr>
    </p:titleStyle>
    <p:bodyStyle>
      <a:lvl1pPr marL="0" indent="0" algn="l" defTabSz="360000" rtl="0" eaLnBrk="1" latinLnBrk="0" hangingPunct="1">
        <a:lnSpc>
          <a:spcPct val="150000"/>
        </a:lnSpc>
        <a:spcBef>
          <a:spcPts val="0"/>
        </a:spcBef>
        <a:buClr>
          <a:schemeClr val="tx2"/>
        </a:buClr>
        <a:buFont typeface="Arial" panose="020B0604020202020204" pitchFamily="34" charset="0"/>
        <a:buNone/>
        <a:tabLst>
          <a:tab pos="360000" algn="l"/>
          <a:tab pos="720000" algn="l"/>
          <a:tab pos="1080000" algn="l"/>
          <a:tab pos="1440000" algn="l"/>
          <a:tab pos="1800000" algn="l"/>
          <a:tab pos="2160000" algn="l"/>
          <a:tab pos="2520000" algn="l"/>
        </a:tabLst>
        <a:defRPr sz="1400" kern="1200" baseline="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1pPr>
      <a:lvl2pPr marL="14288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tabLst/>
        <a:defRPr sz="1600" b="0" i="0" kern="1200" cap="all" baseline="0">
          <a:solidFill>
            <a:schemeClr val="tx2"/>
          </a:solidFill>
          <a:latin typeface="Montserrat" panose="02000505000000020004" pitchFamily="2" charset="77"/>
          <a:ea typeface="+mn-ea"/>
          <a:cs typeface="+mn-cs"/>
        </a:defRPr>
      </a:lvl2pPr>
      <a:lvl3pPr marL="14288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400" b="1" kern="1200" cap="all" baseline="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3pPr>
      <a:lvl4pPr marL="312738" indent="-219075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4pPr>
      <a:lvl5pPr marL="627063" indent="-2365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Montserrat" panose="02000505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53" userDrawn="1">
          <p15:clr>
            <a:srgbClr val="A4A3A4"/>
          </p15:clr>
        </p15:guide>
        <p15:guide id="3" pos="3727" userDrawn="1">
          <p15:clr>
            <a:srgbClr val="A4A3A4"/>
          </p15:clr>
        </p15:guide>
        <p15:guide id="4" pos="5541" userDrawn="1">
          <p15:clr>
            <a:srgbClr val="A4A3A4"/>
          </p15:clr>
        </p15:guide>
        <p15:guide id="5" pos="7355" userDrawn="1">
          <p15:clr>
            <a:srgbClr val="A4A3A4"/>
          </p15:clr>
        </p15:guide>
        <p15:guide id="6" pos="2139" userDrawn="1">
          <p15:clr>
            <a:srgbClr val="A4A3A4"/>
          </p15:clr>
        </p15:guide>
        <p15:guide id="7" pos="325" userDrawn="1">
          <p15:clr>
            <a:srgbClr val="A4A3A4"/>
          </p15:clr>
        </p15:guide>
        <p15:guide id="8" orient="horz" pos="2047" userDrawn="1">
          <p15:clr>
            <a:srgbClr val="A4A3A4"/>
          </p15:clr>
        </p15:guide>
        <p15:guide id="9" orient="horz" pos="4020" userDrawn="1">
          <p15:clr>
            <a:srgbClr val="A4A3A4"/>
          </p15:clr>
        </p15:guide>
        <p15:guide id="10" orient="horz" pos="3816" userDrawn="1">
          <p15:clr>
            <a:srgbClr val="A4A3A4"/>
          </p15:clr>
        </p15:guide>
        <p15:guide id="11" orient="horz" pos="3090" userDrawn="1">
          <p15:clr>
            <a:srgbClr val="A4A3A4"/>
          </p15:clr>
        </p15:guide>
        <p15:guide id="12" orient="horz" pos="822" userDrawn="1">
          <p15:clr>
            <a:srgbClr val="A4A3A4"/>
          </p15:clr>
        </p15:guide>
        <p15:guide id="13" orient="horz" pos="595" userDrawn="1">
          <p15:clr>
            <a:srgbClr val="A4A3A4"/>
          </p15:clr>
        </p15:guide>
        <p15:guide id="14" orient="horz" pos="300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ka.ms/powershell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DashHtml</a:t>
            </a:r>
          </a:p>
        </p:txBody>
      </p:sp>
      <p:sp>
        <p:nvSpPr>
          <p:cNvPr id="7" name="Segnaposto testo 6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2400" dirty="0"/>
              <a:t>Interactive HTML Dashboards from PowerShell</a:t>
            </a:r>
          </a:p>
          <a:p>
            <a:r>
              <a:rPr lang="en-US" sz="1800" dirty="0"/>
              <a:t>Nicola Vigano  ·  Lutech SPA</a:t>
            </a:r>
          </a:p>
        </p:txBody>
      </p:sp>
      <p:pic>
        <p:nvPicPr>
          <p:cNvPr id="6" name="Segnaposto contenuto 3">
            <a:extLst>
              <a:ext uri="{FF2B5EF4-FFF2-40B4-BE49-F238E27FC236}">
                <a16:creationId xmlns:a16="http://schemas.microsoft.com/office/drawing/2014/main" id="{BDEC31E3-D87C-875C-8DF2-8749CAECD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06" y="639429"/>
            <a:ext cx="2983411" cy="72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48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BE0036"/>
                </a:solidFill>
              </a:rPr>
              <a:t>01  What is DashHtml?</a:t>
            </a:r>
          </a:p>
          <a:p>
            <a:r>
              <a:rPr lang="en-US" sz="1600" dirty="0"/>
              <a:t>      Overview, features, and core concepts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02  How It Works</a:t>
            </a:r>
          </a:p>
          <a:p>
            <a:r>
              <a:rPr lang="en-US" sz="1600" dirty="0"/>
              <a:t>      Cmdlets, quick start, themes, tables, KPIs, charts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03  Live Demos</a:t>
            </a:r>
          </a:p>
          <a:p>
            <a:r>
              <a:rPr lang="en-US" sz="1600" dirty="0"/>
              <a:t>      Real dashboards: Active Directory, VMware &amp; more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04  Q&amp;A</a:t>
            </a:r>
          </a:p>
          <a:p>
            <a:r>
              <a:rPr lang="en-US" sz="1600" dirty="0"/>
              <a:t>      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1699654-2275-78AC-BE52-E690AB888D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b="1" dirty="0"/>
              <a:t>You run scripts. They produce data.</a:t>
            </a:r>
          </a:p>
          <a:p>
            <a:r>
              <a:rPr lang="en-US" sz="1600" dirty="0"/>
              <a:t>But how do you share the results?</a:t>
            </a:r>
          </a:p>
          <a:p>
            <a:endParaRPr lang="en-US" dirty="0"/>
          </a:p>
          <a:p>
            <a:r>
              <a:rPr lang="en-US" sz="1600" dirty="0"/>
              <a:t>→  CSV files that no-one can filter</a:t>
            </a:r>
          </a:p>
          <a:p>
            <a:r>
              <a:rPr lang="en-US" sz="1600" dirty="0"/>
              <a:t>→  Excel sheets that go out of date</a:t>
            </a:r>
          </a:p>
          <a:p>
            <a:r>
              <a:rPr lang="en-US" sz="1600" dirty="0"/>
              <a:t>→  Console output that only you can read</a:t>
            </a:r>
          </a:p>
          <a:p>
            <a:r>
              <a:rPr lang="en-US" sz="1600" dirty="0"/>
              <a:t>→  PowerBI / Grafana setups that need a server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There had to be a better way.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77895D6-D3CE-A115-4ADA-F8A44F98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Problem: Sharing IT Data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5FB0AFB-15E0-1C28-2E9F-F45BC8B6111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5223" y="198164"/>
            <a:ext cx="11080840" cy="288925"/>
          </a:xfrm>
        </p:spPr>
        <p:txBody>
          <a:bodyPr>
            <a:normAutofit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345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DashHtml?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700" dirty="0"/>
              <a:t>A PowerShell 7 module that turns any structured data into a self-contained, interactive HTML dashboard.</a:t>
            </a:r>
          </a:p>
          <a:p>
            <a:endParaRPr lang="en-US" dirty="0"/>
          </a:p>
          <a:p>
            <a:r>
              <a:rPr lang="en-US" sz="1700" b="1" dirty="0">
                <a:solidFill>
                  <a:srgbClr val="BE0036"/>
                </a:solidFill>
              </a:rPr>
              <a:t>One HTML file. No server. No external dependencies.</a:t>
            </a:r>
          </a:p>
          <a:p>
            <a:r>
              <a:rPr lang="en-US" sz="1600" dirty="0"/>
              <a:t>Share by email or file share — recipients just open it in any browser.</a:t>
            </a:r>
          </a:p>
          <a:p>
            <a:endParaRPr lang="en-US" dirty="0"/>
          </a:p>
          <a:p>
            <a:r>
              <a:rPr lang="en-US" sz="1600" i="1" dirty="0"/>
              <a:t>10 cmdlets  ·  5 themes (light + dark)  ·  PS 7+  ·  MIT license</a:t>
            </a:r>
          </a:p>
          <a:p>
            <a:endParaRPr lang="en-US" dirty="0"/>
          </a:p>
          <a:p>
            <a:r>
              <a:rPr lang="en-US" sz="1600" dirty="0"/>
              <a:t>Built for IT teams who know PowerShell but need to communicate data to a wider audience.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Works: 3 Simple Steps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BE0036"/>
                </a:solidFill>
              </a:rPr>
              <a:t>Step 1 — Create the dashboard object</a:t>
            </a:r>
          </a:p>
          <a:p>
            <a:r>
              <a:rPr lang="en-US" sz="1500" i="1" dirty="0"/>
              <a:t>      New-DhDashboard -Title "My Report" -Theme Azure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Step 2 — Add your data blocks</a:t>
            </a:r>
          </a:p>
          <a:p>
            <a:r>
              <a:rPr lang="en-US" sz="1500" i="1" dirty="0"/>
              <a:t>      Add-DhTable, Add-DhSummary, Add-DhBarChart, Add-DhFilterCard…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Step 3 — Export to a single HTML file</a:t>
            </a:r>
          </a:p>
          <a:p>
            <a:r>
              <a:rPr lang="en-US" sz="1500" i="1" dirty="0"/>
              <a:t>      Export-DhDashboard -Report $r -OutputPath .\report.html -OpenInBrowser</a:t>
            </a:r>
          </a:p>
          <a:p>
            <a:endParaRPr lang="en-US" dirty="0"/>
          </a:p>
          <a:p>
            <a:r>
              <a:rPr lang="en-US" sz="1600" dirty="0"/>
              <a:t>That is all. Open the file in any browser — no install, no server required.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B105FE2-A663-B105-56CC-E1D042C5CD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en-US" sz="1500" i="1" dirty="0" err="1">
                <a:solidFill>
                  <a:srgbClr val="333333"/>
                </a:solidFill>
              </a:rPr>
              <a:t>Poweshell</a:t>
            </a:r>
            <a:r>
              <a:rPr lang="en-US" sz="1500" i="1" dirty="0">
                <a:solidFill>
                  <a:srgbClr val="333333"/>
                </a:solidFill>
              </a:rPr>
              <a:t> 7 required.</a:t>
            </a:r>
            <a:br>
              <a:rPr lang="en-US" sz="1500" i="1" dirty="0">
                <a:solidFill>
                  <a:srgbClr val="333333"/>
                </a:solidFill>
              </a:rPr>
            </a:br>
            <a:r>
              <a:rPr lang="en-US" sz="1500" i="1" dirty="0">
                <a:solidFill>
                  <a:srgbClr val="333333"/>
                </a:solidFill>
                <a:hlinkClick r:id="rId2"/>
              </a:rPr>
              <a:t>https://aka.ms/powershell</a:t>
            </a:r>
            <a:endParaRPr lang="en-US" sz="1500" i="1" dirty="0">
              <a:solidFill>
                <a:srgbClr val="333333"/>
              </a:solidFill>
            </a:endParaRPr>
          </a:p>
          <a:p>
            <a:endParaRPr lang="en-US" sz="1500" i="1" dirty="0">
              <a:solidFill>
                <a:srgbClr val="333333"/>
              </a:solidFill>
            </a:endParaRPr>
          </a:p>
          <a:p>
            <a:r>
              <a:rPr lang="en-US" sz="1500" i="1" dirty="0">
                <a:solidFill>
                  <a:srgbClr val="333333"/>
                </a:solidFill>
              </a:rPr>
              <a:t>Import-Module </a:t>
            </a:r>
            <a:r>
              <a:rPr lang="en-US" sz="1500" i="1" dirty="0" err="1">
                <a:solidFill>
                  <a:srgbClr val="333333"/>
                </a:solidFill>
              </a:rPr>
              <a:t>DashHtml</a:t>
            </a:r>
            <a:endParaRPr lang="en-US" sz="1500" i="1" dirty="0">
              <a:solidFill>
                <a:srgbClr val="333333"/>
              </a:solidFill>
            </a:endParaRPr>
          </a:p>
          <a:p>
            <a:endParaRPr lang="en-US" sz="1500" i="1" dirty="0">
              <a:solidFill>
                <a:srgbClr val="333333"/>
              </a:solidFill>
            </a:endParaRPr>
          </a:p>
          <a:p>
            <a:r>
              <a:rPr lang="en-US" sz="1500" i="1" dirty="0">
                <a:solidFill>
                  <a:srgbClr val="333333"/>
                </a:solidFill>
              </a:rPr>
              <a:t>$r = New-DhDashboard -Title "Server Inventory" -Theme Default</a:t>
            </a:r>
          </a:p>
          <a:p>
            <a:endParaRPr lang="en-US" dirty="0"/>
          </a:p>
          <a:p>
            <a:r>
              <a:rPr lang="en-US" sz="1500" i="1" dirty="0">
                <a:solidFill>
                  <a:srgbClr val="333333"/>
                </a:solidFill>
              </a:rPr>
              <a:t>$data = Get-ADComputer -Filter * -Properties *</a:t>
            </a:r>
          </a:p>
          <a:p>
            <a:r>
              <a:rPr lang="en-US" sz="1500" i="1" dirty="0">
                <a:solidFill>
                  <a:srgbClr val="333333"/>
                </a:solidFill>
              </a:rPr>
              <a:t>Add-DhTable -Report $r -TableId "srv" -Title "Servers" -Data $data</a:t>
            </a:r>
          </a:p>
          <a:p>
            <a:endParaRPr lang="en-US" dirty="0"/>
          </a:p>
          <a:p>
            <a:r>
              <a:rPr lang="en-US" sz="1500" i="1" dirty="0">
                <a:solidFill>
                  <a:srgbClr val="333333"/>
                </a:solidFill>
              </a:rPr>
              <a:t>Export-DhDashboard -Report $r -OutputPath .\servers.html -Force -OpenInBrowser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BE0036"/>
                </a:solidFill>
              </a:rPr>
              <a:t>Result: a fully interactive, sortable, filterable HTML report.</a:t>
            </a:r>
          </a:p>
          <a:p>
            <a:r>
              <a:rPr lang="en-US" sz="1500" dirty="0"/>
              <a:t>No CSS. No JavaScript knowledge needed. No web server.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7A376AC2-8CA7-F9E4-74BC-CD534126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Start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047699C-5080-BDF7-E860-D104431FF91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5223" y="198164"/>
            <a:ext cx="11080840" cy="288925"/>
          </a:xfrm>
        </p:spPr>
        <p:txBody>
          <a:bodyPr>
            <a:normAutofit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844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Can DashHtml Build?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600" dirty="0"/>
              <a:t>Tables     — Sortable, filterable, pageable · multi-column sort · CSV/XLSX/PDF export</a:t>
            </a:r>
          </a:p>
          <a:p>
            <a:endParaRPr lang="en-US" dirty="0"/>
          </a:p>
          <a:p>
            <a:r>
              <a:rPr lang="en-US" sz="1600" dirty="0"/>
              <a:t>KPI Tiles  — Metric summaries with icons and threshold colouring</a:t>
            </a:r>
          </a:p>
          <a:p>
            <a:endParaRPr lang="en-US" dirty="0"/>
          </a:p>
          <a:p>
            <a:r>
              <a:rPr lang="en-US" sz="1600" dirty="0"/>
              <a:t>Bar Charts — Horizontal charts from any field, click-to-filter</a:t>
            </a:r>
          </a:p>
          <a:p>
            <a:endParaRPr lang="en-US" dirty="0"/>
          </a:p>
          <a:p>
            <a:r>
              <a:rPr lang="en-US" sz="1600" dirty="0"/>
              <a:t>Filter Cards — Clickable tag filters, single or multi-select</a:t>
            </a:r>
          </a:p>
          <a:p>
            <a:endParaRPr lang="en-US" dirty="0"/>
          </a:p>
          <a:p>
            <a:r>
              <a:rPr lang="en-US" sz="1600" dirty="0"/>
              <a:t>Master-Detail — Click a row to drill into a linked child table</a:t>
            </a:r>
          </a:p>
          <a:p>
            <a:endParaRPr lang="en-US" dirty="0"/>
          </a:p>
          <a:p>
            <a:r>
              <a:rPr lang="en-US" sz="1600" dirty="0"/>
              <a:t>Navigation — 2-tier or 3-tier grouped nav bar</a:t>
            </a:r>
          </a:p>
          <a:p>
            <a:endParaRPr lang="en-US" dirty="0"/>
          </a:p>
          <a:p>
            <a:r>
              <a:rPr lang="en-US" sz="1600" dirty="0"/>
              <a:t>Light/Dark Toggle — Both themes always embedded, switch at runtime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F5133E40-E150-46D9-620D-0AA63CCF7C2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13180" y="1304925"/>
            <a:ext cx="11072214" cy="4752975"/>
          </a:xfrm>
        </p:spPr>
        <p:txBody>
          <a:bodyPr/>
          <a:lstStyle/>
          <a:p>
            <a:r>
              <a:rPr lang="en-US" sz="1500" dirty="0"/>
              <a:t>Default    Light grey + blue  /  Near-black + cyan          System UI fonts</a:t>
            </a:r>
          </a:p>
          <a:p>
            <a:endParaRPr lang="en-US" dirty="0"/>
          </a:p>
          <a:p>
            <a:r>
              <a:rPr lang="en-US" sz="1500" dirty="0"/>
              <a:t>Azure      Warm grey + Azure blue  /  Office dark + Azure    Segoe UI</a:t>
            </a:r>
          </a:p>
          <a:p>
            <a:endParaRPr lang="en-US" dirty="0"/>
          </a:p>
          <a:p>
            <a:r>
              <a:rPr lang="en-US" sz="1500" dirty="0"/>
              <a:t>VMware     White/navy + VMware green  /  Navy + green         Inter</a:t>
            </a:r>
          </a:p>
          <a:p>
            <a:endParaRPr lang="en-US" dirty="0"/>
          </a:p>
          <a:p>
            <a:r>
              <a:rPr lang="en-US" sz="1500" dirty="0"/>
              <a:t>Grey       Warm grey + steel  /  Dark neutral + muted grey   System UI</a:t>
            </a:r>
          </a:p>
          <a:p>
            <a:endParaRPr lang="en-US" dirty="0"/>
          </a:p>
          <a:p>
            <a:r>
              <a:rPr lang="en-US" sz="1500" b="1" dirty="0">
                <a:solidFill>
                  <a:srgbClr val="BE0036"/>
                </a:solidFill>
              </a:rPr>
              <a:t>Company    White + Crimson  /  Near-black + Crimson           Montserrat</a:t>
            </a:r>
          </a:p>
          <a:p>
            <a:endParaRPr lang="en-US" dirty="0"/>
          </a:p>
          <a:p>
            <a:r>
              <a:rPr lang="en-US" sz="1500" i="1" dirty="0"/>
              <a:t>Every theme embeds both light and dark variants. Toggle at runtime — no reload.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B15A2EB8-09AF-7349-116B-C6525F926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Five Built-in Themes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0E4CEF3-6318-D87F-7ED7-83B06423B50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5223" y="198164"/>
            <a:ext cx="11080840" cy="288925"/>
          </a:xfrm>
        </p:spPr>
        <p:txBody>
          <a:bodyPr>
            <a:normAutofit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174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Interactive Tables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700" b="1" dirty="0">
                <a:solidFill>
                  <a:srgbClr val="BE0036"/>
                </a:solidFill>
              </a:rPr>
              <a:t>Add-DhTable — the core building block</a:t>
            </a:r>
          </a:p>
          <a:p>
            <a:endParaRPr lang="en-US" dirty="0"/>
          </a:p>
          <a:p>
            <a:r>
              <a:rPr lang="en-US" sz="1500" dirty="0"/>
              <a:t>Sort        Multi-column sort via Shift+Click</a:t>
            </a:r>
          </a:p>
          <a:p>
            <a:r>
              <a:rPr lang="en-US" sz="1500" dirty="0"/>
              <a:t>Filter      Text filter on any column, instant results</a:t>
            </a:r>
          </a:p>
          <a:p>
            <a:r>
              <a:rPr lang="en-US" sz="1500" dirty="0"/>
              <a:t>Page        Configurable page size</a:t>
            </a:r>
          </a:p>
          <a:p>
            <a:r>
              <a:rPr lang="en-US" sz="1500" dirty="0"/>
              <a:t>Export      CSV (built-in)  /  XLSX  /  PDF (via cdnjs)</a:t>
            </a:r>
          </a:p>
          <a:p>
            <a:endParaRPr lang="en-US" dirty="0"/>
          </a:p>
          <a:p>
            <a:r>
              <a:rPr lang="en-US" sz="1600" b="1" dirty="0">
                <a:solidFill>
                  <a:srgbClr val="333333"/>
                </a:solidFill>
              </a:rPr>
              <a:t>Column capabilities:</a:t>
            </a:r>
          </a:p>
          <a:p>
            <a:r>
              <a:rPr lang="en-US" sz="1400" dirty="0"/>
              <a:t>Progress bars  ·  Badges  ·  Threshold colours  ·  Row highlighting</a:t>
            </a:r>
          </a:p>
          <a:p>
            <a:r>
              <a:rPr lang="en-US" sz="1400" dirty="0"/>
              <a:t>Formats: currency, bytes, %, datetime, duration</a:t>
            </a:r>
          </a:p>
          <a:p>
            <a:r>
              <a:rPr lang="en-US" sz="1400" dirty="0"/>
              <a:t>PinFirst  ·  Footer aggregates (sum, avg, count)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1699654-2275-78AC-BE52-E690AB888D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BE0036"/>
                </a:solidFill>
              </a:rPr>
              <a:t>KPI Summary Tiles  —  Add-DhSummary</a:t>
            </a:r>
          </a:p>
          <a:p>
            <a:r>
              <a:rPr lang="en-US" sz="1500" dirty="0"/>
              <a:t>Show key metrics at a glance: counts, storage, thresholds.</a:t>
            </a:r>
          </a:p>
          <a:p>
            <a:r>
              <a:rPr lang="en-US" sz="1400" i="1" dirty="0"/>
              <a:t>Icons, formatted values (bytes, %, currency), OK / Warning / Critical colours.</a:t>
            </a:r>
          </a:p>
          <a:p>
            <a:endParaRPr lang="en-US" dirty="0"/>
          </a:p>
          <a:p>
            <a:r>
              <a:rPr lang="en-US" sz="1300" i="1" dirty="0"/>
              <a:t>Add-DhSummary -Report $r -Items @(</a:t>
            </a:r>
          </a:p>
          <a:p>
            <a:r>
              <a:rPr lang="en-US" sz="1300" i="1" dirty="0"/>
              <a:t>    @{ Label="Total";    Value=247; Icon="X" }</a:t>
            </a:r>
          </a:p>
          <a:p>
            <a:r>
              <a:rPr lang="en-US" sz="1300" i="1" dirty="0"/>
              <a:t>    @{ Label="Active";   Value=231; Class="cell-ok" }</a:t>
            </a:r>
          </a:p>
          <a:p>
            <a:r>
              <a:rPr lang="en-US" sz="1300" i="1" dirty="0"/>
              <a:t>    @{ Label="Critical"; Value=4;   Class="cell-danger" }</a:t>
            </a:r>
          </a:p>
          <a:p>
            <a:r>
              <a:rPr lang="en-US" sz="1300" i="1" dirty="0"/>
              <a:t>)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Bar Charts  —  Add-DhBarChart</a:t>
            </a:r>
          </a:p>
          <a:p>
            <a:r>
              <a:rPr lang="en-US" sz="1500" dirty="0"/>
              <a:t>Auto-aggregates any field. Click a bar to filter the source table.</a:t>
            </a:r>
          </a:p>
          <a:p>
            <a:r>
              <a:rPr lang="en-US" sz="1400" i="1" dirty="0"/>
              <a:t>TopN, ShowCount, ShowPercent, ClickFilters.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77895D6-D3CE-A115-4ADA-F8A44F98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KPI Tiles &amp; Bar Charts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5FB0AFB-15E0-1C28-2E9F-F45BC8B6111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5223" y="198164"/>
            <a:ext cx="11080840" cy="288925"/>
          </a:xfrm>
        </p:spPr>
        <p:txBody>
          <a:bodyPr>
            <a:normAutofit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3454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Navigation &amp; Master-Detail Linking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700" b="1" dirty="0">
                <a:solidFill>
                  <a:srgbClr val="BE0036"/>
                </a:solidFill>
              </a:rPr>
              <a:t>Two-Tier Navigation  (-NavGroup)</a:t>
            </a:r>
          </a:p>
          <a:p>
            <a:r>
              <a:rPr lang="en-US" sz="1500" dirty="0"/>
              <a:t>Group sections into primary tabs with a sub-nav strip.</a:t>
            </a:r>
          </a:p>
          <a:p>
            <a:r>
              <a:rPr lang="en-US" sz="1400" i="1" dirty="0"/>
              <a:t>Filter cards "stick" at the top of a group while sub-tables change.</a:t>
            </a:r>
          </a:p>
          <a:p>
            <a:endParaRPr lang="en-US" dirty="0"/>
          </a:p>
          <a:p>
            <a:r>
              <a:rPr lang="en-US" sz="1700" b="1" dirty="0">
                <a:solidFill>
                  <a:srgbClr val="BE0036"/>
                </a:solidFill>
              </a:rPr>
              <a:t>Three-Tier Navigation  (-NavGroup + -NavSubGroup)</a:t>
            </a:r>
          </a:p>
          <a:p>
            <a:r>
              <a:rPr lang="en-US" sz="1500" dirty="0"/>
              <a:t>Add a pill strip for a third level (e.g. Production / Development).</a:t>
            </a:r>
          </a:p>
          <a:p>
            <a:endParaRPr lang="en-US" dirty="0"/>
          </a:p>
          <a:p>
            <a:r>
              <a:rPr lang="en-US" sz="1700" b="1" dirty="0">
                <a:solidFill>
                  <a:srgbClr val="BE0036"/>
                </a:solidFill>
              </a:rPr>
              <a:t>Master-Detail Linking  (Set-DhTableLink)</a:t>
            </a:r>
          </a:p>
          <a:p>
            <a:r>
              <a:rPr lang="en-US" sz="1500" dirty="0"/>
              <a:t>Click a row in a parent table to auto-filter a child table.</a:t>
            </a:r>
          </a:p>
          <a:p>
            <a:r>
              <a:rPr lang="en-US" sz="1400" i="1" dirty="0"/>
              <a:t>Supports chains: A → B → C (e.g. Domain → OU → Users)</a:t>
            </a:r>
          </a:p>
          <a:p>
            <a:endParaRPr lang="en-US" dirty="0"/>
          </a:p>
          <a:p>
            <a:r>
              <a:rPr lang="en-US" sz="1500" b="1" dirty="0"/>
              <a:t>All navigation is 100% client-side — no server round-trips.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Live Demo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700" i="1" dirty="0"/>
              <a:t>Switch to the terminal for a live walkthrough.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Demo 1  —  Active Directory Dashboard</a:t>
            </a:r>
          </a:p>
          <a:p>
            <a:r>
              <a:rPr lang="en-US" sz="1500" dirty="0"/>
              <a:t>      Users, groups, computers, KPI tiles, filter cards, drill-down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Demo 2  —  VMware Infrastructure Dashboard</a:t>
            </a:r>
          </a:p>
          <a:p>
            <a:r>
              <a:rPr lang="en-US" sz="1500" dirty="0"/>
              <a:t>      Hosts, VMs, datastores, threshold colouring, bar charts</a:t>
            </a:r>
          </a:p>
          <a:p>
            <a:endParaRPr lang="en-US" dirty="0"/>
          </a:p>
          <a:p>
            <a:r>
              <a:rPr lang="en-US" sz="1800" b="1" dirty="0">
                <a:solidFill>
                  <a:srgbClr val="BE0036"/>
                </a:solidFill>
              </a:rPr>
              <a:t>Demo 3  —  Live build</a:t>
            </a:r>
          </a:p>
          <a:p>
            <a:r>
              <a:rPr lang="en-US" sz="1500" dirty="0"/>
              <a:t>      Write a 10-line script from scratch and produce a dashboard in real time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Active Directory Dashboard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700" b="1" dirty="0"/>
              <a:t>Built for daily AD auditing and reporting.</a:t>
            </a:r>
          </a:p>
          <a:p>
            <a:endParaRPr lang="en-US" dirty="0"/>
          </a:p>
          <a:p>
            <a:r>
              <a:rPr lang="en-US" sz="1500" dirty="0"/>
              <a:t>Users          — Enabled/Disabled, password age, last logon, group membership</a:t>
            </a:r>
          </a:p>
          <a:p>
            <a:r>
              <a:rPr lang="en-US" sz="1500" dirty="0"/>
              <a:t>Groups         — Members count, type, scope, nested groups</a:t>
            </a:r>
          </a:p>
          <a:p>
            <a:r>
              <a:rPr lang="en-US" sz="1500" dirty="0"/>
              <a:t>Computers      — OS version, last seen, OU location</a:t>
            </a:r>
          </a:p>
          <a:p>
            <a:r>
              <a:rPr lang="en-US" sz="1500" dirty="0"/>
              <a:t>GPOs           — Linked OUs, settings summary</a:t>
            </a:r>
          </a:p>
          <a:p>
            <a:endParaRPr lang="en-US" dirty="0"/>
          </a:p>
          <a:p>
            <a:r>
              <a:rPr lang="en-US" sz="1500" i="1" dirty="0">
                <a:solidFill>
                  <a:srgbClr val="BE0036"/>
                </a:solidFill>
              </a:rPr>
              <a:t>Theme: Company (Crimson + Montserrat — matches Lutech brand)</a:t>
            </a:r>
          </a:p>
          <a:p>
            <a:endParaRPr lang="en-US" dirty="0"/>
          </a:p>
          <a:p>
            <a:r>
              <a:rPr lang="en-US" sz="1500" dirty="0"/>
              <a:t>Navigation: Identity tab → Users / Groups / Computers sub-tabs</a:t>
            </a:r>
          </a:p>
          <a:p>
            <a:r>
              <a:rPr lang="en-US" sz="1500" dirty="0"/>
              <a:t>Filter cards for Status (Enabled / Disabled)</a:t>
            </a:r>
          </a:p>
          <a:p>
            <a:r>
              <a:rPr lang="en-US" sz="1500" dirty="0"/>
              <a:t>KPI row: Total users, Enabled, Disabled, Stale accounts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2B105FE2-A663-B105-56CC-E1D042C5CD7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1700" b="1" dirty="0"/>
              <a:t>Infrastructure visibility at a glance.</a:t>
            </a:r>
          </a:p>
          <a:p>
            <a:endParaRPr lang="en-US" dirty="0"/>
          </a:p>
          <a:p>
            <a:r>
              <a:rPr lang="en-US" sz="1500" dirty="0"/>
              <a:t>Hosts       — CPU/RAM usage, power state, cluster, version</a:t>
            </a:r>
          </a:p>
          <a:p>
            <a:r>
              <a:rPr lang="en-US" sz="1500" dirty="0"/>
              <a:t>VMs         — Status, vCPU, RAM, datastore, guest OS</a:t>
            </a:r>
          </a:p>
          <a:p>
            <a:r>
              <a:rPr lang="en-US" sz="1500" dirty="0"/>
              <a:t>Datastores  — Capacity, free space, usage % with progress bars</a:t>
            </a:r>
          </a:p>
          <a:p>
            <a:r>
              <a:rPr lang="en-US" sz="1500" dirty="0"/>
              <a:t>Clusters    — HA status, DRS mode, host/VM counts</a:t>
            </a:r>
          </a:p>
          <a:p>
            <a:endParaRPr lang="en-US" dirty="0"/>
          </a:p>
          <a:p>
            <a:r>
              <a:rPr lang="en-US" sz="1500" i="1" dirty="0"/>
              <a:t>Theme: VMware (navy/green)</a:t>
            </a:r>
          </a:p>
          <a:p>
            <a:endParaRPr lang="en-US" dirty="0"/>
          </a:p>
          <a:p>
            <a:r>
              <a:rPr lang="en-US" sz="1500" dirty="0"/>
              <a:t>Bar charts for VM distribution by host and datastore usage.</a:t>
            </a:r>
          </a:p>
          <a:p>
            <a:r>
              <a:rPr lang="en-US" sz="1500" dirty="0"/>
              <a:t>Click a cluster row to filter all VMs in that cluster.</a:t>
            </a:r>
          </a:p>
          <a:p>
            <a:r>
              <a:rPr lang="en-US" sz="1500" dirty="0"/>
              <a:t>Threshold colours on CPU/RAM usage: green / amber / red.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7A376AC2-8CA7-F9E4-74BC-CD534126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VMware Infrastructure Dashboard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0047699C-5080-BDF7-E860-D104431FF91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5223" y="198164"/>
            <a:ext cx="11080840" cy="288925"/>
          </a:xfrm>
        </p:spPr>
        <p:txBody>
          <a:bodyPr>
            <a:normAutofit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8443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621673F-DEF0-A731-C2F3-741053A20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Other Dashboards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CEA52C-C237-0A6C-B6D3-6ED2EBB9225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700" b="1" dirty="0">
                <a:solidFill>
                  <a:srgbClr val="BE0036"/>
                </a:solidFill>
              </a:rPr>
              <a:t>[Add your own dashboards here]</a:t>
            </a:r>
          </a:p>
          <a:p>
            <a:endParaRPr lang="en-US" dirty="0"/>
          </a:p>
          <a:p>
            <a:r>
              <a:rPr lang="en-US" sz="1600" dirty="0"/>
              <a:t>Examples of other real-world use cases:</a:t>
            </a:r>
          </a:p>
          <a:p>
            <a:endParaRPr lang="en-US" dirty="0"/>
          </a:p>
          <a:p>
            <a:r>
              <a:rPr lang="en-US" sz="1500" dirty="0"/>
              <a:t>Exchange / Microsoft 365  — Mailbox sizes, license counts, last logon</a:t>
            </a:r>
          </a:p>
          <a:p>
            <a:endParaRPr lang="en-US" dirty="0"/>
          </a:p>
          <a:p>
            <a:r>
              <a:rPr lang="en-US" sz="1500" dirty="0"/>
              <a:t>Windows Server Inventory  — Patch status, disk usage, services</a:t>
            </a:r>
          </a:p>
          <a:p>
            <a:endParaRPr lang="en-US" dirty="0"/>
          </a:p>
          <a:p>
            <a:r>
              <a:rPr lang="en-US" sz="1500" dirty="0"/>
              <a:t>Network / DNS             — DNS records, DHCP leases, port inventory</a:t>
            </a:r>
          </a:p>
          <a:p>
            <a:endParaRPr lang="en-US" dirty="0"/>
          </a:p>
          <a:p>
            <a:r>
              <a:rPr lang="en-US" sz="1500" dirty="0"/>
              <a:t>Security / RBAC           — Privileged accounts, audit log summaries</a:t>
            </a:r>
          </a:p>
          <a:p>
            <a:endParaRPr lang="en-US" dirty="0"/>
          </a:p>
          <a:p>
            <a:r>
              <a:rPr lang="en-US" sz="1500" b="1" i="1" dirty="0"/>
              <a:t>Any PowerShell object array can become a dashboard section.</a:t>
            </a:r>
          </a:p>
        </p:txBody>
      </p:sp>
    </p:spTree>
    <p:extLst>
      <p:ext uri="{BB962C8B-B14F-4D97-AF65-F5344CB8AC3E}">
        <p14:creationId xmlns:p14="http://schemas.microsoft.com/office/powerpoint/2010/main" val="2627433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B1699654-2275-78AC-BE52-E690AB888D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sz="1700" b="1" dirty="0">
                <a:solidFill>
                  <a:srgbClr val="BE0036"/>
                </a:solidFill>
              </a:rPr>
              <a:t>1.  Self-contained output</a:t>
            </a:r>
          </a:p>
          <a:p>
            <a:r>
              <a:rPr lang="en-US" sz="1500" dirty="0"/>
              <a:t>     One HTML file. No server, no CDN, no config required.</a:t>
            </a:r>
          </a:p>
          <a:p>
            <a:endParaRPr lang="en-US" dirty="0"/>
          </a:p>
          <a:p>
            <a:r>
              <a:rPr lang="en-US" sz="1700" b="1" dirty="0">
                <a:solidFill>
                  <a:srgbClr val="BE0036"/>
                </a:solidFill>
              </a:rPr>
              <a:t>2.  Familiar language</a:t>
            </a:r>
          </a:p>
          <a:p>
            <a:r>
              <a:rPr lang="en-US" sz="1500" dirty="0"/>
              <a:t>     Pure PowerShell. If you can write a script, you can build a dashboard.</a:t>
            </a:r>
          </a:p>
          <a:p>
            <a:endParaRPr lang="en-US" dirty="0"/>
          </a:p>
          <a:p>
            <a:r>
              <a:rPr lang="en-US" sz="1700" b="1" dirty="0">
                <a:solidFill>
                  <a:srgbClr val="BE0036"/>
                </a:solidFill>
              </a:rPr>
              <a:t>3.  Rich interactivity</a:t>
            </a:r>
          </a:p>
          <a:p>
            <a:r>
              <a:rPr lang="en-US" sz="1500" dirty="0"/>
              <a:t>     Sort, filter, drill-down, export — all client-side.</a:t>
            </a:r>
          </a:p>
          <a:p>
            <a:endParaRPr lang="en-US" dirty="0"/>
          </a:p>
          <a:p>
            <a:r>
              <a:rPr lang="en-US" sz="1700" b="1" dirty="0">
                <a:solidFill>
                  <a:srgbClr val="BE0036"/>
                </a:solidFill>
              </a:rPr>
              <a:t>4.  Lutech-branded reports</a:t>
            </a:r>
          </a:p>
          <a:p>
            <a:r>
              <a:rPr lang="en-US" sz="1500" dirty="0"/>
              <a:t>     Company theme: Crimson + Montserrat. Matches brand guidelines.</a:t>
            </a:r>
          </a:p>
          <a:p>
            <a:endParaRPr lang="en-US" dirty="0"/>
          </a:p>
          <a:p>
            <a:r>
              <a:rPr lang="en-US" sz="1700" b="1" dirty="0">
                <a:solidFill>
                  <a:srgbClr val="BE0036"/>
                </a:solidFill>
              </a:rPr>
              <a:t>5.  Install in seconds</a:t>
            </a:r>
          </a:p>
          <a:p>
            <a:r>
              <a:rPr lang="en-US" sz="1500" dirty="0"/>
              <a:t>     .\Install.ps1  — no admin rights needed for CurrentUser scope.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77895D6-D3CE-A115-4ADA-F8A44F988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35FB0AFB-15E0-1C28-2E9F-F45BC8B6111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95223" y="198164"/>
            <a:ext cx="11080840" cy="288925"/>
          </a:xfrm>
        </p:spPr>
        <p:txBody>
          <a:bodyPr>
            <a:normAutofit/>
          </a:bodyPr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3454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00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6307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Personalizzato 1">
      <a:dk1>
        <a:srgbClr val="333333"/>
      </a:dk1>
      <a:lt1>
        <a:srgbClr val="FFFFFF"/>
      </a:lt1>
      <a:dk2>
        <a:srgbClr val="BE0036"/>
      </a:dk2>
      <a:lt2>
        <a:srgbClr val="E1E3EA"/>
      </a:lt2>
      <a:accent1>
        <a:srgbClr val="BE0036"/>
      </a:accent1>
      <a:accent2>
        <a:srgbClr val="EB5E55"/>
      </a:accent2>
      <a:accent3>
        <a:srgbClr val="8B0030"/>
      </a:accent3>
      <a:accent4>
        <a:srgbClr val="E81A44"/>
      </a:accent4>
      <a:accent5>
        <a:srgbClr val="E5D352"/>
      </a:accent5>
      <a:accent6>
        <a:srgbClr val="335A66"/>
      </a:accent6>
      <a:hlink>
        <a:srgbClr val="E81A44"/>
      </a:hlink>
      <a:folHlink>
        <a:srgbClr val="BE0036"/>
      </a:folHlink>
    </a:clrScheme>
    <a:fontScheme name="Personalizzato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none" lIns="0" tIns="0" rIns="0" bIns="0" rtlCol="0" anchor="ctr" anchorCtr="0">
        <a:noAutofit/>
      </a:bodyPr>
      <a:lstStyle>
        <a:defPPr algn="l">
          <a:defRPr sz="1400" spc="0" dirty="0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70B7EFF96D794E8CF00516AB2823FB" ma:contentTypeVersion="15" ma:contentTypeDescription="Create a new document." ma:contentTypeScope="" ma:versionID="708d2bf7635e849155132e257784a401">
  <xsd:schema xmlns:xsd="http://www.w3.org/2001/XMLSchema" xmlns:xs="http://www.w3.org/2001/XMLSchema" xmlns:p="http://schemas.microsoft.com/office/2006/metadata/properties" xmlns:ns2="4ac0c76a-d76b-4972-95db-98ff0bc6535f" xmlns:ns3="a40cc2d8-a230-4e13-9c0d-f518e5a3f656" targetNamespace="http://schemas.microsoft.com/office/2006/metadata/properties" ma:root="true" ma:fieldsID="05a96830b3457106fc70937574c0e86b" ns2:_="" ns3:_="">
    <xsd:import namespace="4ac0c76a-d76b-4972-95db-98ff0bc6535f"/>
    <xsd:import namespace="a40cc2d8-a230-4e13-9c0d-f518e5a3f6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c0c76a-d76b-4972-95db-98ff0bc653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b2fc3c2-9792-4429-8cd5-c389a38525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0cc2d8-a230-4e13-9c0d-f518e5a3f65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a32579e-0f22-402d-b66b-3746296cf2e6}" ma:internalName="TaxCatchAll" ma:showField="CatchAllData" ma:web="a40cc2d8-a230-4e13-9c0d-f518e5a3f6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0cc2d8-a230-4e13-9c0d-f518e5a3f656" xsi:nil="true"/>
    <lcf76f155ced4ddcb4097134ff3c332f xmlns="4ac0c76a-d76b-4972-95db-98ff0bc6535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E94658-8DB4-4A34-9EBA-A16A276ACD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c0c76a-d76b-4972-95db-98ff0bc6535f"/>
    <ds:schemaRef ds:uri="a40cc2d8-a230-4e13-9c0d-f518e5a3f6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69D71C-D79C-4E82-B519-3B35B8338A4F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a40cc2d8-a230-4e13-9c0d-f518e5a3f656"/>
    <ds:schemaRef ds:uri="4ac0c76a-d76b-4972-95db-98ff0bc6535f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CFBF37D-22DE-43FE-A6A3-99A914D648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5432</TotalTime>
  <Words>1282</Words>
  <Application>Microsoft Office PowerPoint</Application>
  <PresentationFormat>Widescreen</PresentationFormat>
  <Paragraphs>190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Montserrat</vt:lpstr>
      <vt:lpstr>Montserrat ExtraBold</vt:lpstr>
      <vt:lpstr>Calibri</vt:lpstr>
      <vt:lpstr>Montserrat SemiBold</vt:lpstr>
      <vt:lpstr>Arial</vt:lpstr>
      <vt:lpstr>Tema di Office</vt:lpstr>
      <vt:lpstr>DashHtml</vt:lpstr>
      <vt:lpstr>Agenda</vt:lpstr>
      <vt:lpstr>The Problem: Sharing IT Data</vt:lpstr>
      <vt:lpstr>What is DashHtml?</vt:lpstr>
      <vt:lpstr>How It Works: 3 Simple Steps</vt:lpstr>
      <vt:lpstr>Quick Start</vt:lpstr>
      <vt:lpstr>What Can DashHtml Build?</vt:lpstr>
      <vt:lpstr>Five Built-in Themes</vt:lpstr>
      <vt:lpstr>Interactive Tables</vt:lpstr>
      <vt:lpstr>KPI Tiles &amp; Bar Charts</vt:lpstr>
      <vt:lpstr>Navigation &amp; Master-Detail Linking</vt:lpstr>
      <vt:lpstr>Live Demo</vt:lpstr>
      <vt:lpstr>Active Directory Dashboard</vt:lpstr>
      <vt:lpstr>VMware Infrastructure Dashboard</vt:lpstr>
      <vt:lpstr>Other Dashboards</vt:lpstr>
      <vt:lpstr>Key Takeaways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F.Langiulli@lutech.it</dc:creator>
  <cp:keywords/>
  <dc:description/>
  <cp:lastModifiedBy>Nicola Vigano'</cp:lastModifiedBy>
  <cp:revision>692</cp:revision>
  <dcterms:created xsi:type="dcterms:W3CDTF">2018-12-05T08:47:49Z</dcterms:created>
  <dcterms:modified xsi:type="dcterms:W3CDTF">2026-05-19T15:16:30Z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0x010100DB70B7EFF96D794E8CF00516AB2823FB</vt:lpwstr>
  </property>
  <property fmtid="{D5CDD505-2E9C-101B-9397-08002B2CF9AE}" pid="3" name="MediaServiceImageTags">
    <vt:lpwstr/>
  </property>
</Properties>
</file>